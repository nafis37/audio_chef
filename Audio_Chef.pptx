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Audio Chef is a browser app with a Python DSP backend. The idea comes from CyberChef: operations are cards you drag into a recipe; they run top to bottom and the output updates as you move sliders.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Audio can come from a dropped file, a file browser or the microphone recorder. Anything libsndfile can decode works: WAV, MP3, FLAC, OGG/Vorbis, Opus, AIFF, W64, CAF, AU. The hard rule: effects are implemented by hand. Only numpy (rfft/irfft, interp, convolve) and scipy.signal.lfilter to RUN coefficients we derived ourselves. librosa, noisereduce, pedalboard and scipy's filter designers are banned.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Vite proxies /api to the FastAPI server on port 8000. The frontend never hard-codes a control: add a parameter to OPERATIONS and it appears in the UI. The last four bakes are kept so their spectrograms can be fetched by X-Bake-Id. The mono fold happens in audio_io.load_audio.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periodic Hann (not np.hanning) is what satisfies COLA. Dividing by the window-square sum is the Griffin &amp; Lim least-squares reconstruction when the spectrum has been modified. At the file edges only one tapering window contributes, so the divisor tends to 0; flooring it at half the steady-state value avoids a loud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S. F. Boll, Suppression of acoustic noise in speech using spectral subtraction, IEEE Trans. ASSP 1979. The auto profile is a simplified 'minimum statistics' (R. Martin 2001). α &gt; 1 because any one frame's noise sits above its mean half the time. The 3-tap time average cuts the variance of random surviving bins by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Hermite basis functions are each 1 in exactly one of the four boundary conditions and 0 in the other three. The slope rising into the flat top carries the curve above the clip level — that is the lost peak being restored. The level is relative to the file's own peak, so a file that was clipped and then turned down is still repaired.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analysis window (20 ms) is wider than the hop (10 ms), so a single click inside a pause lifts at most two hops. Pauses at the very start or end keep only their inner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 w = 0, |1 − e^{−jw}| ≈ w and |1 − R e^{−jw}| ≈ sqrt((1−R)² + w²), so |H| = 1/√2 at w_c = 1 − R. Subtracting the mean first means the blocker's start-up transient does not appear. An RMS target can push peaks past full scale; the recipe's final fit_to_full_scale turns the whole file down instead of clipping.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R. Bristow-Johnson, Cookbook formulae for audio EQ biquad filter coefficients. Shelves use S = 1 (Q = 1/√2), the steepest slope with no bump. The high shelf is the low shelf with z → −z. A negative gain gives the exact inverse of the boost. Shelves rather than bells for bass/treble, because a shelf moves a whole band — which is what people mean by 'more bass'. (The code block condenses eq.py's _design(), peaking() and the lfilter call.)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8th-order 50 Hz low-pass written as one polynomial goes unstable in floating point; a cascade of second-order sections does not. Poles are inside the unit circle for 0 &lt; w0 &lt; π and Q &gt; 0, which is why the cutoff is clamped below 0.49 fs. Source: RBJ Cookbook; S. Butterworth 1930.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attack/release switch makes the recursion nonlinear, so it cannot go through lfilter; block_envelope runs it on 1 ms block peaks (a_B = a^B keeps time constants). A causal follower's attack overshoot, lifted ~20 dB by makeup, became the loudest thing in the file — hence lookahead. The soft knee is a quadratic matching both neighbours in value and slope.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is capped at 0.95; at g = 1 the taps never decay. h[0] = 1 already carries the dry signal, so the mix fades the repeats in. The convolution uses rfft/irfft with both signals padded to at least len(x) + len(h) − 1.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reflections at mutually prime delays never line up into a pitched flutter. The noise is drawn from a fixed seed so every bake of the same settings is identical. Schroeder 1962 is the classic reference for artificial reverberation.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identity phase locking (only peaks run the phase recursion; other bins keep their offset from the peak) the output was ~4 dB quieter and metallic. Linear interpolation is a crude sinc² low-pass, so speeding far up aliases a little on bright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Laroche &amp; Dolson, New phase-vocoder techniques for pitch-shifting, IEEE WASPAA 1999. Starting from the MEASURED phase matters — a linear phase lines every partial up at one instant (a click). Formants move with the harmonics here, which is why +7 st sounds like a chipmunk rather than a soprano.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person with a higher voice has higher harmonics but formants set by their throat size. Moving both together is the cartoon sound; separating them is what makes these sound like a different person rather than a chipmunk. The card says plainly these are caricatures.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Paired-codebook design in the spirit of Arslan &amp; Talkin 1997 (not a reproduction). The DTW is banded (Sakoe-Chiba) and slope-constrained to [1/2, 2], which lets a whole row be vectorised. Alignment quality is checked against random pairs; bad alignments are rejected. Validated on synthetic source-filter speakers; real-voice resemblance is a listening test, not a pytest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region is drawn on the ORIGINAL input; if an earlier step changed the duration (editor, speed_pitch) the card warns that the two clocks have diverged.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mix_at sizes the output to the union of base and clip and adds the scaled clip at its offset. Lanes exist only in the UI. A block whose source recipe changes duration shows a warning icon.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doctor.diagnose() processes no audio: it measures and returns findings plus one fix recipe in a fixed order. DC first because every later measurement assumes a centred wave; de-clip before any filter smears the flat tops; noise removal before silence detection so the pauses are found; gain last so nothing after it pushes the peak back over. The hum check compares a line's max with the MAX of its neighbourhood, not the median — a median bed flagged ordinary speech as hum.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44.1 kHz and N = 2048, 40–80 Hz spans 2 bins while 8–16 kHz spans 372; a linear axis would squash all of speech into a thin strip. Waveforms are not normalised either, for the same reason: level changes must be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backend with python3 run.py from backend/ and the frontend with npm run dev from frontend/, then open http://localhost:5173.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3291840"/>
            <a:ext cx="109728" cy="27432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315468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109728" cy="100584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3063240"/>
            <a:ext cx="109728" cy="73152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2697480"/>
            <a:ext cx="109728" cy="146304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2423160"/>
            <a:ext cx="109728" cy="201168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0" y="2788920"/>
            <a:ext cx="109728" cy="128016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148840"/>
            <a:ext cx="109728" cy="256032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0" y="256032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2880360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2331720"/>
            <a:ext cx="109728" cy="219456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057400"/>
            <a:ext cx="109728" cy="2743200"/>
          </a:xfrm>
          <a:prstGeom prst="roundRect">
            <a:avLst>
              <a:gd name="adj" fmla="val 41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2468880"/>
            <a:ext cx="109728" cy="1920240"/>
          </a:xfrm>
          <a:prstGeom prst="roundRect">
            <a:avLst>
              <a:gd name="adj" fmla="val 41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0" y="2834640"/>
            <a:ext cx="109728" cy="1188720"/>
          </a:xfrm>
          <a:prstGeom prst="roundRect">
            <a:avLst>
              <a:gd name="adj" fmla="val 41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301752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2651760"/>
            <a:ext cx="109728" cy="1554480"/>
          </a:xfrm>
          <a:prstGeom prst="roundRect">
            <a:avLst>
              <a:gd name="adj" fmla="val 41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0" y="2240280"/>
            <a:ext cx="109728" cy="2377440"/>
          </a:xfrm>
          <a:prstGeom prst="roundRect">
            <a:avLst>
              <a:gd name="adj" fmla="val 41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2606040"/>
            <a:ext cx="109728" cy="1645920"/>
          </a:xfrm>
          <a:prstGeom prst="roundRect">
            <a:avLst>
              <a:gd name="adj" fmla="val 41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0" y="2971800"/>
            <a:ext cx="109728" cy="91440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315468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2880360"/>
            <a:ext cx="109728" cy="109728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32720" y="2514600"/>
            <a:ext cx="109728" cy="182880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2743200"/>
            <a:ext cx="109728" cy="137160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98480" y="3063240"/>
            <a:ext cx="109728" cy="73152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881360" y="3200400"/>
            <a:ext cx="109728" cy="45720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064240" y="3017520"/>
            <a:ext cx="109728" cy="82296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47120" y="3246120"/>
            <a:ext cx="109728" cy="36576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0" y="3291840"/>
            <a:ext cx="109728" cy="274320"/>
          </a:xfrm>
          <a:prstGeom prst="roundRect">
            <a:avLst>
              <a:gd name="adj" fmla="val 41667"/>
            </a:avLst>
          </a:prstGeom>
          <a:solidFill>
            <a:srgbClr val="3A4252"/>
          </a:solidFill>
          <a:ln w="12700">
            <a:solidFill>
              <a:srgbClr val="3A42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20116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Chef</a:t>
            </a:r>
            <a:endParaRPr lang="en-US" sz="5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017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CyberChef, but for audio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37033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recording in, stack DSP operations into a recipe, and hear the result instantly. Every effect is implemented by hand from its signal-processing derivation.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Systems course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Audio Chef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columns, left to right — the same flow as CyberChef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889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operations in 6 groups: Clean up, Tone &amp; level, Space, Time &amp; pitch, Voice, Edit. Searchable; drag any one out.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41648" y="2811780"/>
            <a:ext cx="283464" cy="274320"/>
          </a:xfrm>
          <a:prstGeom prst="rightArrow">
            <a:avLst/>
          </a:prstGeom>
          <a:solidFill>
            <a:srgbClr val="2BB3A6"/>
          </a:solidFill>
          <a:ln w="12700">
            <a:solidFill>
              <a:srgbClr val="2BB3A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6916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96596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21259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4068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27889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run strictly top to bottom. Each has its own sliders, quick-setting chips and a bypass switch. Reorder by dragging.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882128" y="2811780"/>
            <a:ext cx="283464" cy="274320"/>
          </a:xfrm>
          <a:prstGeom prst="rightArrow">
            <a:avLst/>
          </a:prstGeom>
          <a:solidFill>
            <a:srgbClr val="2BB3A6"/>
          </a:solidFill>
          <a:ln w="12700">
            <a:solidFill>
              <a:srgbClr val="2BB3A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0" y="169164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03920" y="196596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21259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28116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27889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waveforms with spectrograms, A/B switch, Listen Stats, Signal Doctor and Export WAV.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5720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7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349240"/>
            <a:ext cx="247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libraries — numpy FFTs + our own coefficients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3390824" y="45720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7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ms</a:t>
            </a:r>
            <a:endParaRPr lang="en-US" sz="4000" dirty="0"/>
          </a:p>
        </p:txBody>
      </p:sp>
      <p:sp>
        <p:nvSpPr>
          <p:cNvPr id="24" name="Text 19"/>
          <p:cNvSpPr txBox="1"/>
          <p:nvPr/>
        </p:nvSpPr>
        <p:spPr>
          <a:xfrm>
            <a:off x="3390824" y="5349240"/>
            <a:ext cx="247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Auto-Bake: any change re-processes the audio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6233008" y="45720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7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9+</a:t>
            </a:r>
            <a:endParaRPr lang="en-US" sz="4000" dirty="0"/>
          </a:p>
        </p:txBody>
      </p:sp>
      <p:sp>
        <p:nvSpPr>
          <p:cNvPr id="26" name="Text 21"/>
          <p:cNvSpPr txBox="1"/>
          <p:nvPr/>
        </p:nvSpPr>
        <p:spPr>
          <a:xfrm>
            <a:off x="6233008" y="5349240"/>
            <a:ext cx="247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formats (WAV, MP3, FLAC, OGG…) or the mic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9075191" y="45720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7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16-bit</a:t>
            </a:r>
            <a:endParaRPr lang="en-US" sz="4000" dirty="0"/>
          </a:p>
        </p:txBody>
      </p:sp>
      <p:sp>
        <p:nvSpPr>
          <p:cNvPr id="28" name="Text 23"/>
          <p:cNvSpPr txBox="1"/>
          <p:nvPr/>
        </p:nvSpPr>
        <p:spPr>
          <a:xfrm>
            <a:off x="9075191" y="5349240"/>
            <a:ext cx="2476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 WAV out, turned down rather than clipped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bake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 end → FastAPI back end → one fold over the recipe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93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385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file or record from the mic; the back end decodes it to mono and stores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42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712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slider change waits 300 ms, cancels the previous request and sends the recipe.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747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039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that is not bypassed runs in order, top to bottom; out-of-range values are clamped.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074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736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over 1? The whole buffer is scaled to 0.98 — linear, no distortion.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76672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76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5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3400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669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16-bit WAV comes back, plus input vs output measurements for Listen Stats.</a:t>
            </a:r>
            <a:endParaRPr lang="en-US" sz="1250" dirty="0"/>
          </a:p>
        </p:txBody>
      </p:sp>
      <p:sp>
        <p:nvSpPr>
          <p:cNvPr id="5001" name="Flow 5001"/>
          <p:cNvSpPr/>
          <p:nvPr/>
        </p:nvSpPr>
        <p:spPr>
          <a:xfrm>
            <a:off x="6400800" y="1481328"/>
            <a:ext cx="52422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02" name="Flow 5002"/>
          <p:cNvSpPr txBox="1"/>
          <p:nvPr/>
        </p:nvSpPr>
        <p:spPr>
          <a:xfrm>
            <a:off x="6675120" y="1664208"/>
            <a:ext cx="46936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003" name="Flow 5003"/>
          <p:cNvSpPr/>
          <p:nvPr/>
        </p:nvSpPr>
        <p:spPr>
          <a:xfrm>
            <a:off x="75131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Slider or card changes</a:t>
            </a:r>
          </a:p>
        </p:txBody>
      </p:sp>
      <p:sp>
        <p:nvSpPr>
          <p:cNvPr id="5004" name="Flow 5004"/>
          <p:cNvSpPr/>
          <p:nvPr/>
        </p:nvSpPr>
        <p:spPr>
          <a:xfrm>
            <a:off x="7421727" y="2606040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Wait 300 ms, cancel the old request</a:t>
            </a:r>
          </a:p>
        </p:txBody>
      </p:sp>
      <p:sp>
        <p:nvSpPr>
          <p:cNvPr id="5005" name="Flow 5005"/>
          <p:cNvSpPr/>
          <p:nvPr/>
        </p:nvSpPr>
        <p:spPr>
          <a:xfrm>
            <a:off x="7376007" y="3218688"/>
            <a:ext cx="3291840" cy="438912"/>
          </a:xfrm>
          <a:prstGeom prst="flowChartInputOutput">
            <a:avLst/>
          </a:prstGeom>
          <a:solidFill>
            <a:srgbClr val="F1F3F6"/>
          </a:solidFill>
          <a:ln w="12700">
            <a:solidFill>
              <a:srgbClr val="5B6472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Send audio id + recipe to the back end</a:t>
            </a:r>
          </a:p>
        </p:txBody>
      </p:sp>
      <p:sp>
        <p:nvSpPr>
          <p:cNvPr id="5006" name="Flow 5006"/>
          <p:cNvSpPr/>
          <p:nvPr/>
        </p:nvSpPr>
        <p:spPr>
          <a:xfrm>
            <a:off x="7421727" y="383133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Run the next card (skip if bypassed)</a:t>
            </a:r>
          </a:p>
        </p:txBody>
      </p:sp>
      <p:sp>
        <p:nvSpPr>
          <p:cNvPr id="5007" name="Flow 5007"/>
          <p:cNvSpPr/>
          <p:nvPr/>
        </p:nvSpPr>
        <p:spPr>
          <a:xfrm>
            <a:off x="7558888" y="4443984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More cards?</a:t>
            </a:r>
          </a:p>
        </p:txBody>
      </p:sp>
      <p:sp>
        <p:nvSpPr>
          <p:cNvPr id="5008" name="Flow 5008"/>
          <p:cNvSpPr/>
          <p:nvPr/>
        </p:nvSpPr>
        <p:spPr>
          <a:xfrm>
            <a:off x="7421727" y="5221224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Peak over 1? Scale whole file to 0.98</a:t>
            </a:r>
          </a:p>
        </p:txBody>
      </p:sp>
      <p:sp>
        <p:nvSpPr>
          <p:cNvPr id="5009" name="Flow 5009"/>
          <p:cNvSpPr/>
          <p:nvPr/>
        </p:nvSpPr>
        <p:spPr>
          <a:xfrm>
            <a:off x="75131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Return WAV + stats, play it</a:t>
            </a:r>
          </a:p>
        </p:txBody>
      </p:sp>
      <p:cxnSp>
        <p:nvCxnSpPr>
          <p:cNvPr id="5010" name="Connector 5010"/>
          <p:cNvCxnSpPr/>
          <p:nvPr/>
        </p:nvCxnSpPr>
        <p:spPr>
          <a:xfrm>
            <a:off x="9021928" y="2432304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11" name="Connector 5011"/>
          <p:cNvCxnSpPr/>
          <p:nvPr/>
        </p:nvCxnSpPr>
        <p:spPr>
          <a:xfrm>
            <a:off x="9021928" y="304495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12" name="Connector 5012"/>
          <p:cNvCxnSpPr/>
          <p:nvPr/>
        </p:nvCxnSpPr>
        <p:spPr>
          <a:xfrm>
            <a:off x="9021928" y="3657600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13" name="Connector 5013"/>
          <p:cNvCxnSpPr/>
          <p:nvPr/>
        </p:nvCxnSpPr>
        <p:spPr>
          <a:xfrm>
            <a:off x="9021928" y="4270248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14" name="Connector 5014"/>
          <p:cNvCxnSpPr/>
          <p:nvPr/>
        </p:nvCxnSpPr>
        <p:spPr>
          <a:xfrm>
            <a:off x="9021928" y="5660136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15" name="Connector 5015"/>
          <p:cNvCxnSpPr/>
          <p:nvPr/>
        </p:nvCxnSpPr>
        <p:spPr>
          <a:xfrm>
            <a:off x="9021928" y="5047488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16" name="Flow 5016"/>
          <p:cNvSpPr txBox="1"/>
          <p:nvPr/>
        </p:nvSpPr>
        <p:spPr>
          <a:xfrm>
            <a:off x="9095080" y="502920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017" name="Connector 5017"/>
          <p:cNvCxnSpPr/>
          <p:nvPr/>
        </p:nvCxnSpPr>
        <p:spPr>
          <a:xfrm>
            <a:off x="10484968" y="4745736"/>
            <a:ext cx="102092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18" name="Connector 5018"/>
          <p:cNvCxnSpPr/>
          <p:nvPr/>
        </p:nvCxnSpPr>
        <p:spPr>
          <a:xfrm flipV="1">
            <a:off x="11505895" y="4050792"/>
            <a:ext cx="0" cy="694944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19" name="Connector 5019"/>
          <p:cNvCxnSpPr/>
          <p:nvPr/>
        </p:nvCxnSpPr>
        <p:spPr>
          <a:xfrm flipH="1">
            <a:off x="10622128" y="4050792"/>
            <a:ext cx="88376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20" name="Flow 5020"/>
          <p:cNvSpPr txBox="1"/>
          <p:nvPr/>
        </p:nvSpPr>
        <p:spPr>
          <a:xfrm>
            <a:off x="10530688" y="4526280"/>
            <a:ext cx="4343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STFT core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engine behind every frequency-domain effect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030407" y="502920"/>
            <a:ext cx="612648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030407" y="502920"/>
            <a:ext cx="612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Short-Time Fourier Transform and its inverse, written by hand. Noise removal, speed &amp; pitch, the phase vocoder, voice match and the spectrogram all sit on top of it.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drag in — it runs inside every spectral card.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file edges: the divisor floor makes them fade in rather than click.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spectrogram under each waveform is this same STFT, drawn instead of modified.</a:t>
            </a:r>
            <a:endParaRPr lang="en-US" sz="1400" dirty="0"/>
          </a:p>
        </p:txBody>
      </p:sp>
      <p:sp>
        <p:nvSpPr>
          <p:cNvPr id="5021" name="Flow 5021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22" name="Flow 5022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023" name="Flow 5023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024" name="Flow 5024"/>
          <p:cNvSpPr/>
          <p:nvPr/>
        </p:nvSpPr>
        <p:spPr>
          <a:xfrm>
            <a:off x="7307427" y="263347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Cut into 2048-sample frames (75 % overlap)</a:t>
            </a:r>
          </a:p>
        </p:txBody>
      </p:sp>
      <p:sp>
        <p:nvSpPr>
          <p:cNvPr id="5025" name="Flow 5025"/>
          <p:cNvSpPr/>
          <p:nvPr/>
        </p:nvSpPr>
        <p:spPr>
          <a:xfrm>
            <a:off x="7307427" y="327355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Multiply each frame by a Hann window</a:t>
            </a:r>
          </a:p>
        </p:txBody>
      </p:sp>
      <p:sp>
        <p:nvSpPr>
          <p:cNvPr id="5026" name="Flow 5026"/>
          <p:cNvSpPr/>
          <p:nvPr/>
        </p:nvSpPr>
        <p:spPr>
          <a:xfrm>
            <a:off x="7307427" y="391363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FFT: frame → frequency bins</a:t>
            </a:r>
          </a:p>
        </p:txBody>
      </p:sp>
      <p:sp>
        <p:nvSpPr>
          <p:cNvPr id="5027" name="Flow 5027"/>
          <p:cNvSpPr/>
          <p:nvPr/>
        </p:nvSpPr>
        <p:spPr>
          <a:xfrm>
            <a:off x="7307427" y="455371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Effect edits loudness / phase of each bin</a:t>
            </a:r>
          </a:p>
        </p:txBody>
      </p:sp>
      <p:sp>
        <p:nvSpPr>
          <p:cNvPr id="5028" name="Flow 5028"/>
          <p:cNvSpPr/>
          <p:nvPr/>
        </p:nvSpPr>
        <p:spPr>
          <a:xfrm>
            <a:off x="7307427" y="519379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Inverse FFT, window again, overlap-add</a:t>
            </a:r>
          </a:p>
        </p:txBody>
      </p:sp>
      <p:sp>
        <p:nvSpPr>
          <p:cNvPr id="5029" name="Flow 5029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out</a:t>
            </a:r>
          </a:p>
        </p:txBody>
      </p:sp>
      <p:cxnSp>
        <p:nvCxnSpPr>
          <p:cNvPr id="5030" name="Connector 5030"/>
          <p:cNvCxnSpPr/>
          <p:nvPr/>
        </p:nvCxnSpPr>
        <p:spPr>
          <a:xfrm>
            <a:off x="8907628" y="24323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31" name="Connector 5031"/>
          <p:cNvCxnSpPr/>
          <p:nvPr/>
        </p:nvCxnSpPr>
        <p:spPr>
          <a:xfrm>
            <a:off x="8907628" y="307238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32" name="Connector 5032"/>
          <p:cNvCxnSpPr/>
          <p:nvPr/>
        </p:nvCxnSpPr>
        <p:spPr>
          <a:xfrm>
            <a:off x="8907628" y="371246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33" name="Connector 5033"/>
          <p:cNvCxnSpPr/>
          <p:nvPr/>
        </p:nvCxnSpPr>
        <p:spPr>
          <a:xfrm>
            <a:off x="8907628" y="435254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34" name="Connector 5034"/>
          <p:cNvCxnSpPr/>
          <p:nvPr/>
        </p:nvCxnSpPr>
        <p:spPr>
          <a:xfrm>
            <a:off x="8907628" y="499262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35" name="Connector 5035"/>
          <p:cNvCxnSpPr/>
          <p:nvPr/>
        </p:nvCxnSpPr>
        <p:spPr>
          <a:xfrm>
            <a:off x="8907628" y="56327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Remover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steady background hiss, hum and fan noise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874959" y="502920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74959" y="5029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noise sits at about the same level in every frequency band all the time; speech comes and goes. Measure the noise per band, then turn each band down by that much in every frame.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Noise Remover into the recipe (quick chips: Subtle / Strong / Extreme).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(α) 1–4×; Advanced → “Leave a little behind” is the floor β.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noise → “From a part I mark”, then drag the amber region over a noise-only stretch.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spectrogram: the grey haze between words goes dark.</a:t>
            </a:r>
            <a:endParaRPr lang="en-US" sz="1400" dirty="0"/>
          </a:p>
        </p:txBody>
      </p:sp>
      <p:sp>
        <p:nvSpPr>
          <p:cNvPr id="5036" name="Flow 5036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37" name="Flow 5037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038" name="Flow 5038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Noisy audio in</a:t>
            </a:r>
          </a:p>
        </p:txBody>
      </p:sp>
      <p:sp>
        <p:nvSpPr>
          <p:cNvPr id="5039" name="Flow 5039"/>
          <p:cNvSpPr/>
          <p:nvPr/>
        </p:nvSpPr>
        <p:spPr>
          <a:xfrm>
            <a:off x="7307427" y="2606040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Split into frames (STFT)</a:t>
            </a:r>
          </a:p>
        </p:txBody>
      </p:sp>
      <p:sp>
        <p:nvSpPr>
          <p:cNvPr id="5040" name="Flow 5040"/>
          <p:cNvSpPr/>
          <p:nvPr/>
        </p:nvSpPr>
        <p:spPr>
          <a:xfrm>
            <a:off x="7444588" y="3218688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Noise region marked?</a:t>
            </a:r>
          </a:p>
        </p:txBody>
      </p:sp>
      <p:sp>
        <p:nvSpPr>
          <p:cNvPr id="5041" name="Flow 5041"/>
          <p:cNvSpPr/>
          <p:nvPr/>
        </p:nvSpPr>
        <p:spPr>
          <a:xfrm>
            <a:off x="7307427" y="3995928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Auto: quietest 10 % of each band = noise</a:t>
            </a:r>
          </a:p>
        </p:txBody>
      </p:sp>
      <p:sp>
        <p:nvSpPr>
          <p:cNvPr id="5042" name="Flow 5042"/>
          <p:cNvSpPr/>
          <p:nvPr/>
        </p:nvSpPr>
        <p:spPr>
          <a:xfrm>
            <a:off x="7307427" y="460857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Subtract the noise from every band</a:t>
            </a:r>
          </a:p>
        </p:txBody>
      </p:sp>
      <p:sp>
        <p:nvSpPr>
          <p:cNvPr id="5043" name="Flow 5043"/>
          <p:cNvSpPr/>
          <p:nvPr/>
        </p:nvSpPr>
        <p:spPr>
          <a:xfrm>
            <a:off x="7307427" y="5221224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Smooth over 3 frames, inverse STFT</a:t>
            </a:r>
          </a:p>
        </p:txBody>
      </p:sp>
      <p:sp>
        <p:nvSpPr>
          <p:cNvPr id="5044" name="Flow 5044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Clean audio out</a:t>
            </a:r>
          </a:p>
        </p:txBody>
      </p:sp>
      <p:cxnSp>
        <p:nvCxnSpPr>
          <p:cNvPr id="5045" name="Connector 5045"/>
          <p:cNvCxnSpPr/>
          <p:nvPr/>
        </p:nvCxnSpPr>
        <p:spPr>
          <a:xfrm>
            <a:off x="8907628" y="2432304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46" name="Connector 5046"/>
          <p:cNvCxnSpPr/>
          <p:nvPr/>
        </p:nvCxnSpPr>
        <p:spPr>
          <a:xfrm>
            <a:off x="8907628" y="304495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47" name="Connector 5047"/>
          <p:cNvCxnSpPr/>
          <p:nvPr/>
        </p:nvCxnSpPr>
        <p:spPr>
          <a:xfrm>
            <a:off x="8907628" y="4434840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48" name="Connector 5048"/>
          <p:cNvCxnSpPr/>
          <p:nvPr/>
        </p:nvCxnSpPr>
        <p:spPr>
          <a:xfrm>
            <a:off x="8907628" y="5047488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49" name="Connector 5049"/>
          <p:cNvCxnSpPr/>
          <p:nvPr/>
        </p:nvCxnSpPr>
        <p:spPr>
          <a:xfrm>
            <a:off x="8907628" y="5660136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50" name="Connector 5050"/>
          <p:cNvCxnSpPr/>
          <p:nvPr/>
        </p:nvCxnSpPr>
        <p:spPr>
          <a:xfrm>
            <a:off x="8907628" y="382219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51" name="Flow 5051"/>
          <p:cNvSpPr txBox="1"/>
          <p:nvPr/>
        </p:nvSpPr>
        <p:spPr>
          <a:xfrm>
            <a:off x="8980780" y="380390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052" name="Connector 5052"/>
          <p:cNvCxnSpPr/>
          <p:nvPr/>
        </p:nvCxnSpPr>
        <p:spPr>
          <a:xfrm flipH="1">
            <a:off x="6309360" y="3520440"/>
            <a:ext cx="1135228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53" name="Connector 5053"/>
          <p:cNvCxnSpPr/>
          <p:nvPr/>
        </p:nvCxnSpPr>
        <p:spPr>
          <a:xfrm>
            <a:off x="6309360" y="3520440"/>
            <a:ext cx="0" cy="1307592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54" name="Connector 5054"/>
          <p:cNvCxnSpPr/>
          <p:nvPr/>
        </p:nvCxnSpPr>
        <p:spPr>
          <a:xfrm>
            <a:off x="6309360" y="4828032"/>
            <a:ext cx="998068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55" name="Flow 5055"/>
          <p:cNvSpPr txBox="1"/>
          <p:nvPr/>
        </p:nvSpPr>
        <p:spPr>
          <a:xfrm>
            <a:off x="6141568" y="3300984"/>
            <a:ext cx="12573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Yes: average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De-clip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Redraws peaks that were sliced flat by recording too loud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874959" y="502920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74959" y="5029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recording was too loud, its peaks were cut flat at the converter's limit. De-clip finds each flat top and redraws it as a smooth curve that continues the slopes going in and coming out.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De-clip in; one control, “Clip level” (80–100 % of the file's peak).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Doctor adds it automatically when it sees flat tops near full scale.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the loudest words: harsh crackle softens.</a:t>
            </a:r>
            <a:endParaRPr lang="en-US" sz="1400" dirty="0"/>
          </a:p>
        </p:txBody>
      </p:sp>
      <p:sp>
        <p:nvSpPr>
          <p:cNvPr id="5056" name="Flow 5056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57" name="Flow 5057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058" name="Flow 5058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059" name="Flow 5059"/>
          <p:cNvSpPr/>
          <p:nvPr/>
        </p:nvSpPr>
        <p:spPr>
          <a:xfrm>
            <a:off x="7307427" y="2578608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Find flat-topped runs near the peak</a:t>
            </a:r>
          </a:p>
        </p:txBody>
      </p:sp>
      <p:sp>
        <p:nvSpPr>
          <p:cNvPr id="5060" name="Flow 5060"/>
          <p:cNvSpPr/>
          <p:nvPr/>
        </p:nvSpPr>
        <p:spPr>
          <a:xfrm>
            <a:off x="7444588" y="3163824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Clipped run found?</a:t>
            </a:r>
          </a:p>
        </p:txBody>
      </p:sp>
      <p:sp>
        <p:nvSpPr>
          <p:cNvPr id="5061" name="Flow 5061"/>
          <p:cNvSpPr/>
          <p:nvPr/>
        </p:nvSpPr>
        <p:spPr>
          <a:xfrm>
            <a:off x="7307427" y="391363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Redraw it as a smooth curve</a:t>
            </a:r>
          </a:p>
        </p:txBody>
      </p:sp>
      <p:sp>
        <p:nvSpPr>
          <p:cNvPr id="5062" name="Flow 5062"/>
          <p:cNvSpPr/>
          <p:nvPr/>
        </p:nvSpPr>
        <p:spPr>
          <a:xfrm>
            <a:off x="7444588" y="4498848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New peak above 1?</a:t>
            </a:r>
          </a:p>
        </p:txBody>
      </p:sp>
      <p:sp>
        <p:nvSpPr>
          <p:cNvPr id="5063" name="Flow 5063"/>
          <p:cNvSpPr/>
          <p:nvPr/>
        </p:nvSpPr>
        <p:spPr>
          <a:xfrm>
            <a:off x="7307427" y="524865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Turn the whole file down to fit</a:t>
            </a:r>
          </a:p>
        </p:txBody>
      </p:sp>
      <p:sp>
        <p:nvSpPr>
          <p:cNvPr id="5064" name="Flow 5064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Repaired audio out</a:t>
            </a:r>
          </a:p>
        </p:txBody>
      </p:sp>
      <p:cxnSp>
        <p:nvCxnSpPr>
          <p:cNvPr id="5065" name="Connector 5065"/>
          <p:cNvCxnSpPr/>
          <p:nvPr/>
        </p:nvCxnSpPr>
        <p:spPr>
          <a:xfrm>
            <a:off x="8907628" y="2432304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66" name="Connector 5066"/>
          <p:cNvCxnSpPr/>
          <p:nvPr/>
        </p:nvCxnSpPr>
        <p:spPr>
          <a:xfrm>
            <a:off x="8907628" y="3017520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67" name="Connector 5067"/>
          <p:cNvCxnSpPr/>
          <p:nvPr/>
        </p:nvCxnSpPr>
        <p:spPr>
          <a:xfrm>
            <a:off x="8907628" y="3767328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68" name="Flow 5068"/>
          <p:cNvSpPr txBox="1"/>
          <p:nvPr/>
        </p:nvSpPr>
        <p:spPr>
          <a:xfrm>
            <a:off x="8980780" y="3749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069" name="Connector 5069"/>
          <p:cNvCxnSpPr/>
          <p:nvPr/>
        </p:nvCxnSpPr>
        <p:spPr>
          <a:xfrm flipH="1">
            <a:off x="6309360" y="3465576"/>
            <a:ext cx="1135228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70" name="Connector 5070"/>
          <p:cNvCxnSpPr/>
          <p:nvPr/>
        </p:nvCxnSpPr>
        <p:spPr>
          <a:xfrm>
            <a:off x="6309360" y="3465576"/>
            <a:ext cx="0" cy="256032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71" name="Connector 5071"/>
          <p:cNvCxnSpPr/>
          <p:nvPr/>
        </p:nvCxnSpPr>
        <p:spPr>
          <a:xfrm>
            <a:off x="6309360" y="6025896"/>
            <a:ext cx="108950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72" name="Flow 5072"/>
          <p:cNvSpPr txBox="1"/>
          <p:nvPr/>
        </p:nvSpPr>
        <p:spPr>
          <a:xfrm>
            <a:off x="7033108" y="324612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073" name="Connector 5073"/>
          <p:cNvCxnSpPr/>
          <p:nvPr/>
        </p:nvCxnSpPr>
        <p:spPr>
          <a:xfrm>
            <a:off x="8907628" y="4352544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74" name="Connector 5074"/>
          <p:cNvCxnSpPr/>
          <p:nvPr/>
        </p:nvCxnSpPr>
        <p:spPr>
          <a:xfrm>
            <a:off x="8907628" y="5102352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75" name="Flow 5075"/>
          <p:cNvSpPr txBox="1"/>
          <p:nvPr/>
        </p:nvSpPr>
        <p:spPr>
          <a:xfrm>
            <a:off x="8980780" y="508406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076" name="Connector 5076"/>
          <p:cNvCxnSpPr/>
          <p:nvPr/>
        </p:nvCxnSpPr>
        <p:spPr>
          <a:xfrm>
            <a:off x="10370668" y="4800600"/>
            <a:ext cx="113522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77" name="Connector 5077"/>
          <p:cNvCxnSpPr/>
          <p:nvPr/>
        </p:nvCxnSpPr>
        <p:spPr>
          <a:xfrm>
            <a:off x="11505895" y="4800600"/>
            <a:ext cx="0" cy="1225296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78" name="Connector 5078"/>
          <p:cNvCxnSpPr/>
          <p:nvPr/>
        </p:nvCxnSpPr>
        <p:spPr>
          <a:xfrm flipH="1">
            <a:off x="10416388" y="6025896"/>
            <a:ext cx="108950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79" name="Flow 5079"/>
          <p:cNvSpPr txBox="1"/>
          <p:nvPr/>
        </p:nvSpPr>
        <p:spPr>
          <a:xfrm>
            <a:off x="10416388" y="458114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080" name="Connector 5080"/>
          <p:cNvCxnSpPr/>
          <p:nvPr/>
        </p:nvCxnSpPr>
        <p:spPr>
          <a:xfrm>
            <a:off x="8907628" y="5687568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Silence Remover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long pauses out, leaving a short breath in each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874959" y="502920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74959" y="5029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stretch quieter than a threshold that lasts long enough to be a real pause (not the gap between syllables) and shortens it.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Silence Remover in; quick chips Gentle / Tight / Jump cut.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Quieter than (dB), Longer than (s), Leave (s).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waveform gets shorter; short gaps between words survive.</a:t>
            </a:r>
            <a:endParaRPr lang="en-US" sz="1400" dirty="0"/>
          </a:p>
        </p:txBody>
      </p:sp>
      <p:sp>
        <p:nvSpPr>
          <p:cNvPr id="5081" name="Flow 5081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82" name="Flow 5082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083" name="Flow 5083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084" name="Flow 5084"/>
          <p:cNvSpPr/>
          <p:nvPr/>
        </p:nvSpPr>
        <p:spPr>
          <a:xfrm>
            <a:off x="7307427" y="2578608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Measure loudness every 10 ms</a:t>
            </a:r>
          </a:p>
        </p:txBody>
      </p:sp>
      <p:sp>
        <p:nvSpPr>
          <p:cNvPr id="5085" name="Flow 5085"/>
          <p:cNvSpPr/>
          <p:nvPr/>
        </p:nvSpPr>
        <p:spPr>
          <a:xfrm>
            <a:off x="7307427" y="3163824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Take the next quiet stretch</a:t>
            </a:r>
          </a:p>
        </p:txBody>
      </p:sp>
      <p:sp>
        <p:nvSpPr>
          <p:cNvPr id="5086" name="Flow 5086"/>
          <p:cNvSpPr/>
          <p:nvPr/>
        </p:nvSpPr>
        <p:spPr>
          <a:xfrm>
            <a:off x="7444588" y="3749040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Longer than min pause?</a:t>
            </a:r>
          </a:p>
        </p:txBody>
      </p:sp>
      <p:sp>
        <p:nvSpPr>
          <p:cNvPr id="5087" name="Flow 5087"/>
          <p:cNvSpPr/>
          <p:nvPr/>
        </p:nvSpPr>
        <p:spPr>
          <a:xfrm>
            <a:off x="7307427" y="4498848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Cut it, keep a short breath, fade joins</a:t>
            </a:r>
          </a:p>
        </p:txBody>
      </p:sp>
      <p:sp>
        <p:nvSpPr>
          <p:cNvPr id="5088" name="Flow 5088"/>
          <p:cNvSpPr/>
          <p:nvPr/>
        </p:nvSpPr>
        <p:spPr>
          <a:xfrm>
            <a:off x="7444588" y="5084064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More quiet stretches?</a:t>
            </a:r>
          </a:p>
        </p:txBody>
      </p:sp>
      <p:sp>
        <p:nvSpPr>
          <p:cNvPr id="5089" name="Flow 5089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Shorter audio out</a:t>
            </a:r>
          </a:p>
        </p:txBody>
      </p:sp>
      <p:cxnSp>
        <p:nvCxnSpPr>
          <p:cNvPr id="5090" name="Connector 5090"/>
          <p:cNvCxnSpPr/>
          <p:nvPr/>
        </p:nvCxnSpPr>
        <p:spPr>
          <a:xfrm>
            <a:off x="8907628" y="2432304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91" name="Connector 5091"/>
          <p:cNvCxnSpPr/>
          <p:nvPr/>
        </p:nvCxnSpPr>
        <p:spPr>
          <a:xfrm>
            <a:off x="8907628" y="3017520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92" name="Connector 5092"/>
          <p:cNvCxnSpPr/>
          <p:nvPr/>
        </p:nvCxnSpPr>
        <p:spPr>
          <a:xfrm>
            <a:off x="8907628" y="3602736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093" name="Connector 5093"/>
          <p:cNvCxnSpPr/>
          <p:nvPr/>
        </p:nvCxnSpPr>
        <p:spPr>
          <a:xfrm>
            <a:off x="8907628" y="4352544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94" name="Flow 5094"/>
          <p:cNvSpPr txBox="1"/>
          <p:nvPr/>
        </p:nvSpPr>
        <p:spPr>
          <a:xfrm>
            <a:off x="8980780" y="433425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095" name="Connector 5095"/>
          <p:cNvCxnSpPr/>
          <p:nvPr/>
        </p:nvCxnSpPr>
        <p:spPr>
          <a:xfrm flipH="1">
            <a:off x="6309360" y="4050792"/>
            <a:ext cx="1135228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96" name="Connector 5096"/>
          <p:cNvCxnSpPr/>
          <p:nvPr/>
        </p:nvCxnSpPr>
        <p:spPr>
          <a:xfrm>
            <a:off x="6309360" y="4050792"/>
            <a:ext cx="0" cy="1335024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097" name="Connector 5097"/>
          <p:cNvCxnSpPr/>
          <p:nvPr/>
        </p:nvCxnSpPr>
        <p:spPr>
          <a:xfrm>
            <a:off x="6309360" y="5385816"/>
            <a:ext cx="1135228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098" name="Flow 5098"/>
          <p:cNvSpPr txBox="1"/>
          <p:nvPr/>
        </p:nvSpPr>
        <p:spPr>
          <a:xfrm>
            <a:off x="7033108" y="383133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099" name="Connector 5099"/>
          <p:cNvCxnSpPr/>
          <p:nvPr/>
        </p:nvCxnSpPr>
        <p:spPr>
          <a:xfrm>
            <a:off x="8907628" y="4937760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00" name="Connector 5100"/>
          <p:cNvCxnSpPr/>
          <p:nvPr/>
        </p:nvCxnSpPr>
        <p:spPr>
          <a:xfrm>
            <a:off x="8907628" y="5687568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01" name="Flow 5101"/>
          <p:cNvSpPr txBox="1"/>
          <p:nvPr/>
        </p:nvSpPr>
        <p:spPr>
          <a:xfrm>
            <a:off x="8980780" y="566928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102" name="Connector 5102"/>
          <p:cNvCxnSpPr/>
          <p:nvPr/>
        </p:nvCxnSpPr>
        <p:spPr>
          <a:xfrm>
            <a:off x="10370668" y="5385816"/>
            <a:ext cx="113522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03" name="Connector 5103"/>
          <p:cNvCxnSpPr/>
          <p:nvPr/>
        </p:nvCxnSpPr>
        <p:spPr>
          <a:xfrm flipV="1">
            <a:off x="11505895" y="3383280"/>
            <a:ext cx="0" cy="2002536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04" name="Connector 5104"/>
          <p:cNvCxnSpPr/>
          <p:nvPr/>
        </p:nvCxnSpPr>
        <p:spPr>
          <a:xfrm flipH="1">
            <a:off x="10507828" y="3383280"/>
            <a:ext cx="99806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05" name="Flow 5105"/>
          <p:cNvSpPr txBox="1"/>
          <p:nvPr/>
        </p:nvSpPr>
        <p:spPr>
          <a:xfrm>
            <a:off x="10416388" y="5166360"/>
            <a:ext cx="4343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&amp; DC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Re-centres the waveform on zero, then sets the loudness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564063" y="50292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64063" y="50292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LEVEL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DC offset (a waveform sitting above or below the zero line), then turns the whole file up or down so its loudest peak — or its average loudness — hits a target.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Level &amp; DC in; quick chips Peak −1 dB / Speech −18 dB / DC only.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DC offset (on/off); Set level by: Loudest peak, Average (RMS) or Don't change.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waveform sits on the centre line and fills the panel.</a:t>
            </a:r>
            <a:endParaRPr lang="en-US" sz="1400" dirty="0"/>
          </a:p>
        </p:txBody>
      </p:sp>
      <p:sp>
        <p:nvSpPr>
          <p:cNvPr id="5106" name="Flow 5106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07" name="Flow 5107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108" name="Flow 5108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109" name="Flow 5109"/>
          <p:cNvSpPr/>
          <p:nvPr/>
        </p:nvSpPr>
        <p:spPr>
          <a:xfrm>
            <a:off x="7444588" y="2606040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Remove DC on?</a:t>
            </a:r>
          </a:p>
        </p:txBody>
      </p:sp>
      <p:sp>
        <p:nvSpPr>
          <p:cNvPr id="5110" name="Flow 5110"/>
          <p:cNvSpPr/>
          <p:nvPr/>
        </p:nvSpPr>
        <p:spPr>
          <a:xfrm>
            <a:off x="7307427" y="3383280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Subtract the mean, then DC blocker</a:t>
            </a:r>
          </a:p>
        </p:txBody>
      </p:sp>
      <p:sp>
        <p:nvSpPr>
          <p:cNvPr id="5111" name="Flow 5111"/>
          <p:cNvSpPr/>
          <p:nvPr/>
        </p:nvSpPr>
        <p:spPr>
          <a:xfrm>
            <a:off x="7307427" y="3995928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Measure peak (or average) level</a:t>
            </a:r>
          </a:p>
        </p:txBody>
      </p:sp>
      <p:sp>
        <p:nvSpPr>
          <p:cNvPr id="5112" name="Flow 5112"/>
          <p:cNvSpPr/>
          <p:nvPr/>
        </p:nvSpPr>
        <p:spPr>
          <a:xfrm>
            <a:off x="7307427" y="460857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Gain = target ÷ measured level</a:t>
            </a:r>
          </a:p>
        </p:txBody>
      </p:sp>
      <p:sp>
        <p:nvSpPr>
          <p:cNvPr id="5113" name="Flow 5113"/>
          <p:cNvSpPr/>
          <p:nvPr/>
        </p:nvSpPr>
        <p:spPr>
          <a:xfrm>
            <a:off x="7307427" y="5221224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Multiply every sample by the gain</a:t>
            </a:r>
          </a:p>
        </p:txBody>
      </p:sp>
      <p:sp>
        <p:nvSpPr>
          <p:cNvPr id="5114" name="Flow 5114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Levelled audio out</a:t>
            </a:r>
          </a:p>
        </p:txBody>
      </p:sp>
      <p:cxnSp>
        <p:nvCxnSpPr>
          <p:cNvPr id="5115" name="Connector 5115"/>
          <p:cNvCxnSpPr/>
          <p:nvPr/>
        </p:nvCxnSpPr>
        <p:spPr>
          <a:xfrm>
            <a:off x="8907628" y="2432304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16" name="Connector 5116"/>
          <p:cNvCxnSpPr/>
          <p:nvPr/>
        </p:nvCxnSpPr>
        <p:spPr>
          <a:xfrm>
            <a:off x="8907628" y="382219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17" name="Connector 5117"/>
          <p:cNvCxnSpPr/>
          <p:nvPr/>
        </p:nvCxnSpPr>
        <p:spPr>
          <a:xfrm>
            <a:off x="8907628" y="4434840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18" name="Connector 5118"/>
          <p:cNvCxnSpPr/>
          <p:nvPr/>
        </p:nvCxnSpPr>
        <p:spPr>
          <a:xfrm>
            <a:off x="8907628" y="5047488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19" name="Connector 5119"/>
          <p:cNvCxnSpPr/>
          <p:nvPr/>
        </p:nvCxnSpPr>
        <p:spPr>
          <a:xfrm>
            <a:off x="8907628" y="5660136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20" name="Connector 5120"/>
          <p:cNvCxnSpPr/>
          <p:nvPr/>
        </p:nvCxnSpPr>
        <p:spPr>
          <a:xfrm>
            <a:off x="8907628" y="3209544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21" name="Flow 5121"/>
          <p:cNvSpPr txBox="1"/>
          <p:nvPr/>
        </p:nvSpPr>
        <p:spPr>
          <a:xfrm>
            <a:off x="8980780" y="3191256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122" name="Connector 5122"/>
          <p:cNvCxnSpPr/>
          <p:nvPr/>
        </p:nvCxnSpPr>
        <p:spPr>
          <a:xfrm flipH="1">
            <a:off x="6309360" y="2907792"/>
            <a:ext cx="1135228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23" name="Connector 5123"/>
          <p:cNvCxnSpPr/>
          <p:nvPr/>
        </p:nvCxnSpPr>
        <p:spPr>
          <a:xfrm>
            <a:off x="6309360" y="2907792"/>
            <a:ext cx="0" cy="1307592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24" name="Connector 5124"/>
          <p:cNvCxnSpPr/>
          <p:nvPr/>
        </p:nvCxnSpPr>
        <p:spPr>
          <a:xfrm>
            <a:off x="6309360" y="4215384"/>
            <a:ext cx="998068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25" name="Flow 5125"/>
          <p:cNvSpPr txBox="1"/>
          <p:nvPr/>
        </p:nvSpPr>
        <p:spPr>
          <a:xfrm>
            <a:off x="7033108" y="268833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Equalizer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Bass, mid and treble tone controls — three biquads in series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564063" y="50292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64063" y="50292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LEVEL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Bass / Mid / Treble knobs on a stereo. Bass lifts or cuts everything below a corner, Treble everything above one, Mid a bell-shaped band around a centre.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Equalizer in (default: +6 dB bass, +6 dB treble).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chips Subtle / Strong / Extreme / Telephone.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bass corner, mid frequency, mid width Q, treble corner.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bottom or top band of the spectrogram brighten.</a:t>
            </a:r>
            <a:endParaRPr lang="en-US" sz="1400" dirty="0"/>
          </a:p>
        </p:txBody>
      </p:sp>
      <p:sp>
        <p:nvSpPr>
          <p:cNvPr id="5126" name="Flow 5126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27" name="Flow 5127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128" name="Flow 5128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129" name="Flow 5129"/>
          <p:cNvSpPr/>
          <p:nvPr/>
        </p:nvSpPr>
        <p:spPr>
          <a:xfrm>
            <a:off x="7261708" y="2633472"/>
            <a:ext cx="3291840" cy="438912"/>
          </a:xfrm>
          <a:prstGeom prst="flowChartInputOutput">
            <a:avLst/>
          </a:prstGeom>
          <a:solidFill>
            <a:srgbClr val="F1F3F6"/>
          </a:solidFill>
          <a:ln w="12700">
            <a:solidFill>
              <a:srgbClr val="5B6472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Read Bass / Mid / Treble sliders</a:t>
            </a:r>
          </a:p>
        </p:txBody>
      </p:sp>
      <p:sp>
        <p:nvSpPr>
          <p:cNvPr id="5130" name="Flow 5130"/>
          <p:cNvSpPr/>
          <p:nvPr/>
        </p:nvSpPr>
        <p:spPr>
          <a:xfrm>
            <a:off x="7307427" y="327355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Work out the filter coefficients</a:t>
            </a:r>
          </a:p>
        </p:txBody>
      </p:sp>
      <p:sp>
        <p:nvSpPr>
          <p:cNvPr id="5131" name="Flow 5131"/>
          <p:cNvSpPr/>
          <p:nvPr/>
        </p:nvSpPr>
        <p:spPr>
          <a:xfrm>
            <a:off x="7307427" y="391363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Bass: low-shelf filter</a:t>
            </a:r>
          </a:p>
        </p:txBody>
      </p:sp>
      <p:sp>
        <p:nvSpPr>
          <p:cNvPr id="5132" name="Flow 5132"/>
          <p:cNvSpPr/>
          <p:nvPr/>
        </p:nvSpPr>
        <p:spPr>
          <a:xfrm>
            <a:off x="7307427" y="455371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Mid: bell (peaking) filter</a:t>
            </a:r>
          </a:p>
        </p:txBody>
      </p:sp>
      <p:sp>
        <p:nvSpPr>
          <p:cNvPr id="5133" name="Flow 5133"/>
          <p:cNvSpPr/>
          <p:nvPr/>
        </p:nvSpPr>
        <p:spPr>
          <a:xfrm>
            <a:off x="7307427" y="519379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Treble: high-shelf filter</a:t>
            </a:r>
          </a:p>
        </p:txBody>
      </p:sp>
      <p:sp>
        <p:nvSpPr>
          <p:cNvPr id="5134" name="Flow 5134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Re-toned audio out</a:t>
            </a:r>
          </a:p>
        </p:txBody>
      </p:sp>
      <p:cxnSp>
        <p:nvCxnSpPr>
          <p:cNvPr id="5135" name="Connector 5135"/>
          <p:cNvCxnSpPr/>
          <p:nvPr/>
        </p:nvCxnSpPr>
        <p:spPr>
          <a:xfrm>
            <a:off x="8907628" y="24323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36" name="Connector 5136"/>
          <p:cNvCxnSpPr/>
          <p:nvPr/>
        </p:nvCxnSpPr>
        <p:spPr>
          <a:xfrm>
            <a:off x="8907628" y="307238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37" name="Connector 5137"/>
          <p:cNvCxnSpPr/>
          <p:nvPr/>
        </p:nvCxnSpPr>
        <p:spPr>
          <a:xfrm>
            <a:off x="8907628" y="371246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38" name="Connector 5138"/>
          <p:cNvCxnSpPr/>
          <p:nvPr/>
        </p:nvCxnSpPr>
        <p:spPr>
          <a:xfrm>
            <a:off x="8907628" y="435254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39" name="Connector 5139"/>
          <p:cNvCxnSpPr/>
          <p:nvPr/>
        </p:nvCxnSpPr>
        <p:spPr>
          <a:xfrm>
            <a:off x="8907628" y="499262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40" name="Connector 5140"/>
          <p:cNvCxnSpPr/>
          <p:nvPr/>
        </p:nvCxnSpPr>
        <p:spPr>
          <a:xfrm>
            <a:off x="8907628" y="56327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Low-pass, high-pass, band-pass and notch — these remove, not tilt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564063" y="50292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64063" y="50292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LEVEL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keeps what is below a cutoff (muffled, like through a wall); high-pass the mirror (thin, tinny); band-pass keeps one band (the telephone sound); notch removes one narrow band (mains hum).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Filter in; Type, Frequency (log slider), Steepness 12–48 dB/oct or Width Q.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chips: Muffled, Telephone, Thin, Rumble cut, Hum notch.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cutoff lines appear on BOTH spectrograms — past them the Output goes dark.</a:t>
            </a:r>
            <a:endParaRPr lang="en-US" sz="1400" dirty="0"/>
          </a:p>
        </p:txBody>
      </p:sp>
      <p:sp>
        <p:nvSpPr>
          <p:cNvPr id="5141" name="Flow 5141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42" name="Flow 5142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143" name="Flow 5143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144" name="Flow 5144"/>
          <p:cNvSpPr/>
          <p:nvPr/>
        </p:nvSpPr>
        <p:spPr>
          <a:xfrm>
            <a:off x="7261708" y="2606040"/>
            <a:ext cx="3291840" cy="438912"/>
          </a:xfrm>
          <a:prstGeom prst="flowChartInputOutput">
            <a:avLst/>
          </a:prstGeom>
          <a:solidFill>
            <a:srgbClr val="F1F3F6"/>
          </a:solidFill>
          <a:ln w="12700">
            <a:solidFill>
              <a:srgbClr val="5B6472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Read type, cutoff and steepness</a:t>
            </a:r>
          </a:p>
        </p:txBody>
      </p:sp>
      <p:sp>
        <p:nvSpPr>
          <p:cNvPr id="5145" name="Flow 5145"/>
          <p:cNvSpPr/>
          <p:nvPr/>
        </p:nvSpPr>
        <p:spPr>
          <a:xfrm>
            <a:off x="7444588" y="3218688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Low- or high-pass?</a:t>
            </a:r>
          </a:p>
        </p:txBody>
      </p:sp>
      <p:sp>
        <p:nvSpPr>
          <p:cNvPr id="5146" name="Flow 5146"/>
          <p:cNvSpPr/>
          <p:nvPr/>
        </p:nvSpPr>
        <p:spPr>
          <a:xfrm>
            <a:off x="7307427" y="3995928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Chain Butterworth sections (steeper = more)</a:t>
            </a:r>
          </a:p>
        </p:txBody>
      </p:sp>
      <p:sp>
        <p:nvSpPr>
          <p:cNvPr id="5147" name="Flow 5147"/>
          <p:cNvSpPr/>
          <p:nvPr/>
        </p:nvSpPr>
        <p:spPr>
          <a:xfrm>
            <a:off x="7307427" y="460857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One band-pass or notch section</a:t>
            </a:r>
          </a:p>
        </p:txBody>
      </p:sp>
      <p:sp>
        <p:nvSpPr>
          <p:cNvPr id="5148" name="Flow 5148"/>
          <p:cNvSpPr/>
          <p:nvPr/>
        </p:nvSpPr>
        <p:spPr>
          <a:xfrm>
            <a:off x="7307427" y="5221224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Run the sections one after another</a:t>
            </a:r>
          </a:p>
        </p:txBody>
      </p:sp>
      <p:sp>
        <p:nvSpPr>
          <p:cNvPr id="5149" name="Flow 5149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Filtered audio out</a:t>
            </a:r>
          </a:p>
        </p:txBody>
      </p:sp>
      <p:cxnSp>
        <p:nvCxnSpPr>
          <p:cNvPr id="5150" name="Connector 5150"/>
          <p:cNvCxnSpPr/>
          <p:nvPr/>
        </p:nvCxnSpPr>
        <p:spPr>
          <a:xfrm>
            <a:off x="8907628" y="2432304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51" name="Connector 5151"/>
          <p:cNvCxnSpPr/>
          <p:nvPr/>
        </p:nvCxnSpPr>
        <p:spPr>
          <a:xfrm>
            <a:off x="8907628" y="304495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52" name="Connector 5152"/>
          <p:cNvCxnSpPr/>
          <p:nvPr/>
        </p:nvCxnSpPr>
        <p:spPr>
          <a:xfrm>
            <a:off x="8907628" y="382219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53" name="Flow 5153"/>
          <p:cNvSpPr txBox="1"/>
          <p:nvPr/>
        </p:nvSpPr>
        <p:spPr>
          <a:xfrm>
            <a:off x="8980780" y="380390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154" name="Connector 5154"/>
          <p:cNvCxnSpPr/>
          <p:nvPr/>
        </p:nvCxnSpPr>
        <p:spPr>
          <a:xfrm flipH="1">
            <a:off x="6309360" y="3520440"/>
            <a:ext cx="1135228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55" name="Connector 5155"/>
          <p:cNvCxnSpPr/>
          <p:nvPr/>
        </p:nvCxnSpPr>
        <p:spPr>
          <a:xfrm>
            <a:off x="6309360" y="3520440"/>
            <a:ext cx="0" cy="1307592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56" name="Connector 5156"/>
          <p:cNvCxnSpPr/>
          <p:nvPr/>
        </p:nvCxnSpPr>
        <p:spPr>
          <a:xfrm>
            <a:off x="6309360" y="4828032"/>
            <a:ext cx="998068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57" name="Flow 5157"/>
          <p:cNvSpPr txBox="1"/>
          <p:nvPr/>
        </p:nvSpPr>
        <p:spPr>
          <a:xfrm>
            <a:off x="7033108" y="330098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158" name="Connector 5158"/>
          <p:cNvCxnSpPr/>
          <p:nvPr/>
        </p:nvCxnSpPr>
        <p:spPr>
          <a:xfrm>
            <a:off x="10507828" y="4215384"/>
            <a:ext cx="99806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59" name="Connector 5159"/>
          <p:cNvCxnSpPr/>
          <p:nvPr/>
        </p:nvCxnSpPr>
        <p:spPr>
          <a:xfrm>
            <a:off x="11505895" y="4215384"/>
            <a:ext cx="0" cy="1225296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60" name="Connector 5160"/>
          <p:cNvCxnSpPr/>
          <p:nvPr/>
        </p:nvCxnSpPr>
        <p:spPr>
          <a:xfrm flipH="1">
            <a:off x="10507828" y="5440680"/>
            <a:ext cx="99806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61" name="Connector 5161"/>
          <p:cNvCxnSpPr/>
          <p:nvPr/>
        </p:nvCxnSpPr>
        <p:spPr>
          <a:xfrm>
            <a:off x="8907628" y="5047488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62" name="Connector 5162"/>
          <p:cNvCxnSpPr/>
          <p:nvPr/>
        </p:nvCxnSpPr>
        <p:spPr>
          <a:xfrm>
            <a:off x="8907628" y="5660136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Compressor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volume knob: loud parts down, quiet parts up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564063" y="50292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64063" y="50292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LEVEL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how loud the audio has recently been; above the threshold it turns the audio down, more the further over. Auto-makeup then lifts everything so the loudest peak is back where it started.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Compressor in; quick chips Subtle / Strong / Extreme.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squashing at (threshold, dB), Squash ratio (:1), Auto-makeup.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attack, release, knee, extra gain.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waveform turns from spiky into a solid block; crest factor drops in Listen Stats.</a:t>
            </a:r>
            <a:endParaRPr lang="en-US" sz="1400" dirty="0"/>
          </a:p>
        </p:txBody>
      </p:sp>
      <p:sp>
        <p:nvSpPr>
          <p:cNvPr id="5163" name="Flow 5163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64" name="Flow 5164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165" name="Flow 5165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166" name="Flow 5166"/>
          <p:cNvSpPr/>
          <p:nvPr/>
        </p:nvSpPr>
        <p:spPr>
          <a:xfrm>
            <a:off x="7307427" y="2606040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Follow the loudness (attack / release)</a:t>
            </a:r>
          </a:p>
        </p:txBody>
      </p:sp>
      <p:sp>
        <p:nvSpPr>
          <p:cNvPr id="5167" name="Flow 5167"/>
          <p:cNvSpPr/>
          <p:nvPr/>
        </p:nvSpPr>
        <p:spPr>
          <a:xfrm>
            <a:off x="7444588" y="3218688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Over the threshold?</a:t>
            </a:r>
          </a:p>
        </p:txBody>
      </p:sp>
      <p:sp>
        <p:nvSpPr>
          <p:cNvPr id="5168" name="Flow 5168"/>
          <p:cNvSpPr/>
          <p:nvPr/>
        </p:nvSpPr>
        <p:spPr>
          <a:xfrm>
            <a:off x="7307427" y="3995928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Turn down by the ratio (soft knee)</a:t>
            </a:r>
          </a:p>
        </p:txBody>
      </p:sp>
      <p:sp>
        <p:nvSpPr>
          <p:cNvPr id="5169" name="Flow 5169"/>
          <p:cNvSpPr/>
          <p:nvPr/>
        </p:nvSpPr>
        <p:spPr>
          <a:xfrm>
            <a:off x="7307427" y="460857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Leave the gain alone</a:t>
            </a:r>
          </a:p>
        </p:txBody>
      </p:sp>
      <p:sp>
        <p:nvSpPr>
          <p:cNvPr id="5170" name="Flow 5170"/>
          <p:cNvSpPr/>
          <p:nvPr/>
        </p:nvSpPr>
        <p:spPr>
          <a:xfrm>
            <a:off x="7307427" y="5221224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Apply gain + auto make-up</a:t>
            </a:r>
          </a:p>
        </p:txBody>
      </p:sp>
      <p:sp>
        <p:nvSpPr>
          <p:cNvPr id="5171" name="Flow 5171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Evened-out audio</a:t>
            </a:r>
          </a:p>
        </p:txBody>
      </p:sp>
      <p:cxnSp>
        <p:nvCxnSpPr>
          <p:cNvPr id="5172" name="Connector 5172"/>
          <p:cNvCxnSpPr/>
          <p:nvPr/>
        </p:nvCxnSpPr>
        <p:spPr>
          <a:xfrm>
            <a:off x="8907628" y="2432304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73" name="Connector 5173"/>
          <p:cNvCxnSpPr/>
          <p:nvPr/>
        </p:nvCxnSpPr>
        <p:spPr>
          <a:xfrm>
            <a:off x="8907628" y="304495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74" name="Connector 5174"/>
          <p:cNvCxnSpPr/>
          <p:nvPr/>
        </p:nvCxnSpPr>
        <p:spPr>
          <a:xfrm>
            <a:off x="8907628" y="382219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75" name="Flow 5175"/>
          <p:cNvSpPr txBox="1"/>
          <p:nvPr/>
        </p:nvSpPr>
        <p:spPr>
          <a:xfrm>
            <a:off x="8980780" y="380390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176" name="Connector 5176"/>
          <p:cNvCxnSpPr/>
          <p:nvPr/>
        </p:nvCxnSpPr>
        <p:spPr>
          <a:xfrm flipH="1">
            <a:off x="6309360" y="3520440"/>
            <a:ext cx="1135228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77" name="Connector 5177"/>
          <p:cNvCxnSpPr/>
          <p:nvPr/>
        </p:nvCxnSpPr>
        <p:spPr>
          <a:xfrm>
            <a:off x="6309360" y="3520440"/>
            <a:ext cx="0" cy="1307592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78" name="Connector 5178"/>
          <p:cNvCxnSpPr/>
          <p:nvPr/>
        </p:nvCxnSpPr>
        <p:spPr>
          <a:xfrm>
            <a:off x="6309360" y="4828032"/>
            <a:ext cx="998068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79" name="Flow 5179"/>
          <p:cNvSpPr txBox="1"/>
          <p:nvPr/>
        </p:nvSpPr>
        <p:spPr>
          <a:xfrm>
            <a:off x="7033108" y="330098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180" name="Connector 5180"/>
          <p:cNvCxnSpPr/>
          <p:nvPr/>
        </p:nvCxnSpPr>
        <p:spPr>
          <a:xfrm>
            <a:off x="10507828" y="4215384"/>
            <a:ext cx="99806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81" name="Connector 5181"/>
          <p:cNvCxnSpPr/>
          <p:nvPr/>
        </p:nvCxnSpPr>
        <p:spPr>
          <a:xfrm>
            <a:off x="11505895" y="4215384"/>
            <a:ext cx="0" cy="1225296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82" name="Connector 5182"/>
          <p:cNvCxnSpPr/>
          <p:nvPr/>
        </p:nvCxnSpPr>
        <p:spPr>
          <a:xfrm flipH="1">
            <a:off x="10507828" y="5440680"/>
            <a:ext cx="99806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83" name="Connector 5183"/>
          <p:cNvCxnSpPr/>
          <p:nvPr/>
        </p:nvCxnSpPr>
        <p:spPr>
          <a:xfrm>
            <a:off x="8907628" y="5047488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84" name="Connector 5184"/>
          <p:cNvCxnSpPr/>
          <p:nvPr/>
        </p:nvCxnSpPr>
        <p:spPr>
          <a:xfrm>
            <a:off x="8907628" y="5660136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repeats, like shouting across a canyon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108131" y="502920"/>
            <a:ext cx="534924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08131" y="502920"/>
            <a:ext cx="53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the sound come back after a fixed delay, each quieter than the last. Delay is the gap between copies; Repeats is how much of each copy survives into the next.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Echo in; quick chips Slapback / Canyon / Endless.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(s), Repeats (%, max 95), Wet (%).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waveform shows smaller copies trailing each burst.</a:t>
            </a:r>
            <a:endParaRPr lang="en-US" sz="1400" dirty="0"/>
          </a:p>
        </p:txBody>
      </p:sp>
      <p:sp>
        <p:nvSpPr>
          <p:cNvPr id="5185" name="Flow 5185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186" name="Flow 5186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187" name="Flow 5187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188" name="Flow 5188"/>
          <p:cNvSpPr/>
          <p:nvPr/>
        </p:nvSpPr>
        <p:spPr>
          <a:xfrm>
            <a:off x="7307427" y="2728570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Add a copy one delay later, quieter</a:t>
            </a:r>
          </a:p>
        </p:txBody>
      </p:sp>
      <p:sp>
        <p:nvSpPr>
          <p:cNvPr id="5189" name="Flow 5189"/>
          <p:cNvSpPr/>
          <p:nvPr/>
        </p:nvSpPr>
        <p:spPr>
          <a:xfrm>
            <a:off x="7444588" y="3463747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Copy still audible?</a:t>
            </a:r>
          </a:p>
        </p:txBody>
      </p:sp>
      <p:sp>
        <p:nvSpPr>
          <p:cNvPr id="5190" name="Flow 5190"/>
          <p:cNvSpPr/>
          <p:nvPr/>
        </p:nvSpPr>
        <p:spPr>
          <a:xfrm>
            <a:off x="7307427" y="4363517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Convolve the audio with the copies</a:t>
            </a:r>
          </a:p>
        </p:txBody>
      </p:sp>
      <p:sp>
        <p:nvSpPr>
          <p:cNvPr id="5191" name="Flow 5191"/>
          <p:cNvSpPr/>
          <p:nvPr/>
        </p:nvSpPr>
        <p:spPr>
          <a:xfrm>
            <a:off x="7307427" y="5098694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Mix wet echo with the dry sound</a:t>
            </a:r>
          </a:p>
        </p:txBody>
      </p:sp>
      <p:sp>
        <p:nvSpPr>
          <p:cNvPr id="5192" name="Flow 5192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Echoed audio out</a:t>
            </a:r>
          </a:p>
        </p:txBody>
      </p:sp>
      <p:cxnSp>
        <p:nvCxnSpPr>
          <p:cNvPr id="5193" name="Connector 5193"/>
          <p:cNvCxnSpPr/>
          <p:nvPr/>
        </p:nvCxnSpPr>
        <p:spPr>
          <a:xfrm>
            <a:off x="8907628" y="2432304"/>
            <a:ext cx="0" cy="29626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94" name="Connector 5194"/>
          <p:cNvCxnSpPr/>
          <p:nvPr/>
        </p:nvCxnSpPr>
        <p:spPr>
          <a:xfrm>
            <a:off x="8907628" y="3167482"/>
            <a:ext cx="0" cy="29626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195" name="Connector 5195"/>
          <p:cNvCxnSpPr/>
          <p:nvPr/>
        </p:nvCxnSpPr>
        <p:spPr>
          <a:xfrm>
            <a:off x="8907628" y="4067251"/>
            <a:ext cx="0" cy="29626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196" name="Flow 5196"/>
          <p:cNvSpPr txBox="1"/>
          <p:nvPr/>
        </p:nvSpPr>
        <p:spPr>
          <a:xfrm>
            <a:off x="8980780" y="4048963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197" name="Connector 5197"/>
          <p:cNvCxnSpPr/>
          <p:nvPr/>
        </p:nvCxnSpPr>
        <p:spPr>
          <a:xfrm>
            <a:off x="10370668" y="3765499"/>
            <a:ext cx="113522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98" name="Connector 5198"/>
          <p:cNvCxnSpPr/>
          <p:nvPr/>
        </p:nvCxnSpPr>
        <p:spPr>
          <a:xfrm flipV="1">
            <a:off x="11505895" y="2948026"/>
            <a:ext cx="0" cy="817474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199" name="Connector 5199"/>
          <p:cNvCxnSpPr/>
          <p:nvPr/>
        </p:nvCxnSpPr>
        <p:spPr>
          <a:xfrm flipH="1">
            <a:off x="10507828" y="2948026"/>
            <a:ext cx="99806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200" name="Flow 5200"/>
          <p:cNvSpPr txBox="1"/>
          <p:nvPr/>
        </p:nvSpPr>
        <p:spPr>
          <a:xfrm>
            <a:off x="10416388" y="3546043"/>
            <a:ext cx="4343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201" name="Connector 5201"/>
          <p:cNvCxnSpPr/>
          <p:nvPr/>
        </p:nvCxnSpPr>
        <p:spPr>
          <a:xfrm>
            <a:off x="8907628" y="4802429"/>
            <a:ext cx="0" cy="29626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02" name="Connector 5202"/>
          <p:cNvCxnSpPr/>
          <p:nvPr/>
        </p:nvCxnSpPr>
        <p:spPr>
          <a:xfrm>
            <a:off x="8907628" y="5537606"/>
            <a:ext cx="0" cy="29626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Reverb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the sound in a room, from a small booth to a cathedral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108131" y="502920"/>
            <a:ext cx="534924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08131" y="502920"/>
            <a:ext cx="53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reflections arrive so close together they blur into one smooth tail. Instead of a recorded room, the impulse response is synthesised and convolved with the input.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Reverb in; quick chips Small room / Hall / Cathedral.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size (%), Tail length (RT60, s), Wet (%).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spectrogram the harmonic stripes smear to the right instead of stopping.</a:t>
            </a:r>
            <a:endParaRPr lang="en-US" sz="1400" dirty="0"/>
          </a:p>
        </p:txBody>
      </p:sp>
      <p:sp>
        <p:nvSpPr>
          <p:cNvPr id="5203" name="Flow 5203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04" name="Flow 5204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205" name="Flow 5205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206" name="Flow 5206"/>
          <p:cNvSpPr/>
          <p:nvPr/>
        </p:nvSpPr>
        <p:spPr>
          <a:xfrm>
            <a:off x="7307427" y="263347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Pre-delay: a short silence</a:t>
            </a:r>
          </a:p>
        </p:txBody>
      </p:sp>
      <p:sp>
        <p:nvSpPr>
          <p:cNvPr id="5207" name="Flow 5207"/>
          <p:cNvSpPr/>
          <p:nvPr/>
        </p:nvSpPr>
        <p:spPr>
          <a:xfrm>
            <a:off x="7307427" y="327355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Early reflections spaced by room size</a:t>
            </a:r>
          </a:p>
        </p:txBody>
      </p:sp>
      <p:sp>
        <p:nvSpPr>
          <p:cNvPr id="5208" name="Flow 5208"/>
          <p:cNvSpPr/>
          <p:nvPr/>
        </p:nvSpPr>
        <p:spPr>
          <a:xfrm>
            <a:off x="7307427" y="391363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Noise tail fading over the RT60 time</a:t>
            </a:r>
          </a:p>
        </p:txBody>
      </p:sp>
      <p:sp>
        <p:nvSpPr>
          <p:cNvPr id="5209" name="Flow 5209"/>
          <p:cNvSpPr/>
          <p:nvPr/>
        </p:nvSpPr>
        <p:spPr>
          <a:xfrm>
            <a:off x="7307427" y="455371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Damp the highs, normalise the energy</a:t>
            </a:r>
          </a:p>
        </p:txBody>
      </p:sp>
      <p:sp>
        <p:nvSpPr>
          <p:cNvPr id="5210" name="Flow 5210"/>
          <p:cNvSpPr/>
          <p:nvPr/>
        </p:nvSpPr>
        <p:spPr>
          <a:xfrm>
            <a:off x="7307427" y="519379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Convolve, mix wet with dry</a:t>
            </a:r>
          </a:p>
        </p:txBody>
      </p:sp>
      <p:sp>
        <p:nvSpPr>
          <p:cNvPr id="5211" name="Flow 5211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 a room</a:t>
            </a:r>
          </a:p>
        </p:txBody>
      </p:sp>
      <p:cxnSp>
        <p:nvCxnSpPr>
          <p:cNvPr id="5212" name="Connector 5212"/>
          <p:cNvCxnSpPr/>
          <p:nvPr/>
        </p:nvCxnSpPr>
        <p:spPr>
          <a:xfrm>
            <a:off x="8907628" y="24323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13" name="Connector 5213"/>
          <p:cNvCxnSpPr/>
          <p:nvPr/>
        </p:nvCxnSpPr>
        <p:spPr>
          <a:xfrm>
            <a:off x="8907628" y="307238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14" name="Connector 5214"/>
          <p:cNvCxnSpPr/>
          <p:nvPr/>
        </p:nvCxnSpPr>
        <p:spPr>
          <a:xfrm>
            <a:off x="8907628" y="371246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15" name="Connector 5215"/>
          <p:cNvCxnSpPr/>
          <p:nvPr/>
        </p:nvCxnSpPr>
        <p:spPr>
          <a:xfrm>
            <a:off x="8907628" y="435254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16" name="Connector 5216"/>
          <p:cNvCxnSpPr/>
          <p:nvPr/>
        </p:nvCxnSpPr>
        <p:spPr>
          <a:xfrm>
            <a:off x="8907628" y="499262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17" name="Connector 5217"/>
          <p:cNvCxnSpPr/>
          <p:nvPr/>
        </p:nvCxnSpPr>
        <p:spPr>
          <a:xfrm>
            <a:off x="8907628" y="56327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&amp; Pitch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how fast it plays and how high it sounds — separately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564063" y="50292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64063" y="50292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PITCH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tape, speed and pitch move together. Two hand-made building blocks decouple them: resampling (the tape effect) and a phase-vocoder time stretch (length without pitch).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Speed &amp; Pitch in; quick chips Slow-mo / Fast talk / Tape speed-up / Octave down.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(×), Keep pitch (on = podcast 1.5×, off = tape), Pitch (semitones).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waveform is shorter or longer than the input.</a:t>
            </a:r>
            <a:endParaRPr lang="en-US" sz="1400" dirty="0"/>
          </a:p>
        </p:txBody>
      </p:sp>
      <p:sp>
        <p:nvSpPr>
          <p:cNvPr id="5218" name="Flow 5218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19" name="Flow 5219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220" name="Flow 5220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in</a:t>
            </a:r>
          </a:p>
        </p:txBody>
      </p:sp>
      <p:sp>
        <p:nvSpPr>
          <p:cNvPr id="5221" name="Flow 5221"/>
          <p:cNvSpPr/>
          <p:nvPr/>
        </p:nvSpPr>
        <p:spPr>
          <a:xfrm>
            <a:off x="7444588" y="2578608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Keep pitch on?</a:t>
            </a:r>
          </a:p>
        </p:txBody>
      </p:sp>
      <p:sp>
        <p:nvSpPr>
          <p:cNvPr id="5222" name="Flow 5222"/>
          <p:cNvSpPr/>
          <p:nvPr/>
        </p:nvSpPr>
        <p:spPr>
          <a:xfrm>
            <a:off x="7307427" y="332841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Phase vocoder: new length, same pitch</a:t>
            </a:r>
          </a:p>
        </p:txBody>
      </p:sp>
      <p:sp>
        <p:nvSpPr>
          <p:cNvPr id="5223" name="Flow 5223"/>
          <p:cNvSpPr/>
          <p:nvPr/>
        </p:nvSpPr>
        <p:spPr>
          <a:xfrm>
            <a:off x="7307427" y="391363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Resample like tape: faster = higher</a:t>
            </a:r>
          </a:p>
        </p:txBody>
      </p:sp>
      <p:sp>
        <p:nvSpPr>
          <p:cNvPr id="5224" name="Flow 5224"/>
          <p:cNvSpPr/>
          <p:nvPr/>
        </p:nvSpPr>
        <p:spPr>
          <a:xfrm>
            <a:off x="7444588" y="4498848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Pitch shift set?</a:t>
            </a:r>
          </a:p>
        </p:txBody>
      </p:sp>
      <p:sp>
        <p:nvSpPr>
          <p:cNvPr id="5225" name="Flow 5225"/>
          <p:cNvSpPr/>
          <p:nvPr/>
        </p:nvSpPr>
        <p:spPr>
          <a:xfrm>
            <a:off x="7307427" y="524865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Stretch by r, then resample by r</a:t>
            </a:r>
          </a:p>
        </p:txBody>
      </p:sp>
      <p:sp>
        <p:nvSpPr>
          <p:cNvPr id="5226" name="Flow 5226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out</a:t>
            </a:r>
          </a:p>
        </p:txBody>
      </p:sp>
      <p:cxnSp>
        <p:nvCxnSpPr>
          <p:cNvPr id="5227" name="Connector 5227"/>
          <p:cNvCxnSpPr/>
          <p:nvPr/>
        </p:nvCxnSpPr>
        <p:spPr>
          <a:xfrm>
            <a:off x="8907628" y="2432304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28" name="Connector 5228"/>
          <p:cNvCxnSpPr/>
          <p:nvPr/>
        </p:nvCxnSpPr>
        <p:spPr>
          <a:xfrm>
            <a:off x="8907628" y="3182112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229" name="Flow 5229"/>
          <p:cNvSpPr txBox="1"/>
          <p:nvPr/>
        </p:nvSpPr>
        <p:spPr>
          <a:xfrm>
            <a:off x="8980780" y="316382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230" name="Connector 5230"/>
          <p:cNvCxnSpPr/>
          <p:nvPr/>
        </p:nvCxnSpPr>
        <p:spPr>
          <a:xfrm flipH="1">
            <a:off x="6309360" y="2880360"/>
            <a:ext cx="1135228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231" name="Connector 5231"/>
          <p:cNvCxnSpPr/>
          <p:nvPr/>
        </p:nvCxnSpPr>
        <p:spPr>
          <a:xfrm>
            <a:off x="6309360" y="2880360"/>
            <a:ext cx="0" cy="1252728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232" name="Connector 5232"/>
          <p:cNvCxnSpPr/>
          <p:nvPr/>
        </p:nvCxnSpPr>
        <p:spPr>
          <a:xfrm>
            <a:off x="6309360" y="4133088"/>
            <a:ext cx="998068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233" name="Flow 5233"/>
          <p:cNvSpPr txBox="1"/>
          <p:nvPr/>
        </p:nvSpPr>
        <p:spPr>
          <a:xfrm>
            <a:off x="7033108" y="266090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234" name="Connector 5234"/>
          <p:cNvCxnSpPr/>
          <p:nvPr/>
        </p:nvCxnSpPr>
        <p:spPr>
          <a:xfrm>
            <a:off x="10507828" y="3547872"/>
            <a:ext cx="99806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235" name="Connector 5235"/>
          <p:cNvCxnSpPr/>
          <p:nvPr/>
        </p:nvCxnSpPr>
        <p:spPr>
          <a:xfrm>
            <a:off x="11505895" y="3547872"/>
            <a:ext cx="0" cy="1252728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236" name="Connector 5236"/>
          <p:cNvCxnSpPr/>
          <p:nvPr/>
        </p:nvCxnSpPr>
        <p:spPr>
          <a:xfrm flipH="1">
            <a:off x="10370668" y="4800600"/>
            <a:ext cx="113522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37" name="Connector 5237"/>
          <p:cNvCxnSpPr/>
          <p:nvPr/>
        </p:nvCxnSpPr>
        <p:spPr>
          <a:xfrm>
            <a:off x="8907628" y="4352544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38" name="Connector 5238"/>
          <p:cNvCxnSpPr/>
          <p:nvPr/>
        </p:nvCxnSpPr>
        <p:spPr>
          <a:xfrm>
            <a:off x="8907628" y="5102352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239" name="Flow 5239"/>
          <p:cNvSpPr txBox="1"/>
          <p:nvPr/>
        </p:nvSpPr>
        <p:spPr>
          <a:xfrm>
            <a:off x="8980780" y="508406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240" name="Connector 5240"/>
          <p:cNvCxnSpPr/>
          <p:nvPr/>
        </p:nvCxnSpPr>
        <p:spPr>
          <a:xfrm flipH="1">
            <a:off x="6510528" y="4800600"/>
            <a:ext cx="934060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241" name="Connector 5241"/>
          <p:cNvCxnSpPr/>
          <p:nvPr/>
        </p:nvCxnSpPr>
        <p:spPr>
          <a:xfrm>
            <a:off x="6510528" y="4800600"/>
            <a:ext cx="0" cy="1225296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242" name="Connector 5242"/>
          <p:cNvCxnSpPr/>
          <p:nvPr/>
        </p:nvCxnSpPr>
        <p:spPr>
          <a:xfrm>
            <a:off x="6510528" y="6025896"/>
            <a:ext cx="888339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243" name="Flow 5243"/>
          <p:cNvSpPr txBox="1"/>
          <p:nvPr/>
        </p:nvSpPr>
        <p:spPr>
          <a:xfrm>
            <a:off x="7033108" y="4581144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244" name="Connector 5244"/>
          <p:cNvCxnSpPr/>
          <p:nvPr/>
        </p:nvCxnSpPr>
        <p:spPr>
          <a:xfrm>
            <a:off x="8907628" y="5687568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Vocoder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Chipmunk, monster, robot, whisper — the same magnitudes, a new phase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108131" y="502920"/>
            <a:ext cx="534924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08131" y="502920"/>
            <a:ext cx="53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how loud each frequency is in each frame (that carries the words), rebuild with a different phase (that carries the pitch).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Phase Vocoder in; choose Voice (quick chips Chipmunk, Robot, …).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(1–12 st) for chipmunk/monster; Robot buzz (40–300 Hz).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Spectrogram: stripes move up/down, snap to even lines (robot) or dissolve (whisper).</a:t>
            </a:r>
            <a:endParaRPr lang="en-US" sz="1400" dirty="0"/>
          </a:p>
        </p:txBody>
      </p:sp>
      <p:sp>
        <p:nvSpPr>
          <p:cNvPr id="5245" name="Flow 5245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46" name="Flow 5246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247" name="Flow 5247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Voice in</a:t>
            </a:r>
          </a:p>
        </p:txBody>
      </p:sp>
      <p:sp>
        <p:nvSpPr>
          <p:cNvPr id="5248" name="Flow 5248"/>
          <p:cNvSpPr/>
          <p:nvPr/>
        </p:nvSpPr>
        <p:spPr>
          <a:xfrm>
            <a:off x="7307427" y="263347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Split into frames (STFT)</a:t>
            </a:r>
          </a:p>
        </p:txBody>
      </p:sp>
      <p:sp>
        <p:nvSpPr>
          <p:cNvPr id="5249" name="Flow 5249"/>
          <p:cNvSpPr/>
          <p:nvPr/>
        </p:nvSpPr>
        <p:spPr>
          <a:xfrm>
            <a:off x="7307427" y="327355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Keep each bin's loudness (the words)</a:t>
            </a:r>
          </a:p>
        </p:txBody>
      </p:sp>
      <p:sp>
        <p:nvSpPr>
          <p:cNvPr id="5250" name="Flow 5250"/>
          <p:cNvSpPr/>
          <p:nvPr/>
        </p:nvSpPr>
        <p:spPr>
          <a:xfrm>
            <a:off x="7261708" y="3913632"/>
            <a:ext cx="3291840" cy="438912"/>
          </a:xfrm>
          <a:prstGeom prst="flowChartInputOutput">
            <a:avLst/>
          </a:prstGeom>
          <a:solidFill>
            <a:srgbClr val="F1F3F6"/>
          </a:solidFill>
          <a:ln w="12700">
            <a:solidFill>
              <a:srgbClr val="5B6472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Pick a voice: chipmunk, monster, robot, whisper</a:t>
            </a:r>
          </a:p>
        </p:txBody>
      </p:sp>
      <p:sp>
        <p:nvSpPr>
          <p:cNvPr id="5251" name="Flow 5251"/>
          <p:cNvSpPr/>
          <p:nvPr/>
        </p:nvSpPr>
        <p:spPr>
          <a:xfrm>
            <a:off x="7307427" y="455371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Build new phase: shifted, pulsed or random</a:t>
            </a:r>
          </a:p>
        </p:txBody>
      </p:sp>
      <p:sp>
        <p:nvSpPr>
          <p:cNvPr id="5252" name="Flow 5252"/>
          <p:cNvSpPr/>
          <p:nvPr/>
        </p:nvSpPr>
        <p:spPr>
          <a:xfrm>
            <a:off x="7307427" y="519379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Inverse STFT, overlap-add</a:t>
            </a:r>
          </a:p>
        </p:txBody>
      </p:sp>
      <p:sp>
        <p:nvSpPr>
          <p:cNvPr id="5253" name="Flow 5253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Changed voice out</a:t>
            </a:r>
          </a:p>
        </p:txBody>
      </p:sp>
      <p:cxnSp>
        <p:nvCxnSpPr>
          <p:cNvPr id="5254" name="Connector 5254"/>
          <p:cNvCxnSpPr/>
          <p:nvPr/>
        </p:nvCxnSpPr>
        <p:spPr>
          <a:xfrm>
            <a:off x="8907628" y="24323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55" name="Connector 5255"/>
          <p:cNvCxnSpPr/>
          <p:nvPr/>
        </p:nvCxnSpPr>
        <p:spPr>
          <a:xfrm>
            <a:off x="8907628" y="307238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56" name="Connector 5256"/>
          <p:cNvCxnSpPr/>
          <p:nvPr/>
        </p:nvCxnSpPr>
        <p:spPr>
          <a:xfrm>
            <a:off x="8907628" y="371246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57" name="Connector 5257"/>
          <p:cNvCxnSpPr/>
          <p:nvPr/>
        </p:nvCxnSpPr>
        <p:spPr>
          <a:xfrm>
            <a:off x="8907628" y="435254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58" name="Connector 5258"/>
          <p:cNvCxnSpPr/>
          <p:nvPr/>
        </p:nvCxnSpPr>
        <p:spPr>
          <a:xfrm>
            <a:off x="8907628" y="499262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59" name="Connector 5259"/>
          <p:cNvCxnSpPr/>
          <p:nvPr/>
        </p:nvCxnSpPr>
        <p:spPr>
          <a:xfrm>
            <a:off x="8907628" y="56327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Celebrity caricatures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and formants moved separately — loose impressions, not clones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108131" y="502920"/>
            <a:ext cx="534924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08131" y="502920"/>
            <a:ext cx="53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of the Phase Vocoder card (Ronaldo, Messi, Trump). Each preset is four numbers — pitch, formant (throat size), tempo, rasp — plus an optional EQ bell.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Phase Vocoder in and pick a celebrity mode (quick chips Ronaldo / Messi / Trump).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(Advanced) blends with the original before the tempo change.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words, rhythm and accent stay — for real resemblance use Voice Match.</a:t>
            </a:r>
            <a:endParaRPr lang="en-US" sz="1400" dirty="0"/>
          </a:p>
        </p:txBody>
      </p:sp>
      <p:sp>
        <p:nvSpPr>
          <p:cNvPr id="5260" name="Flow 5260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61" name="Flow 5261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262" name="Flow 5262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Voice in</a:t>
            </a:r>
          </a:p>
        </p:txBody>
      </p:sp>
      <p:sp>
        <p:nvSpPr>
          <p:cNvPr id="5263" name="Flow 5263"/>
          <p:cNvSpPr/>
          <p:nvPr/>
        </p:nvSpPr>
        <p:spPr>
          <a:xfrm>
            <a:off x="7261708" y="2633472"/>
            <a:ext cx="3291840" cy="438912"/>
          </a:xfrm>
          <a:prstGeom prst="flowChartInputOutput">
            <a:avLst/>
          </a:prstGeom>
          <a:solidFill>
            <a:srgbClr val="F1F3F6"/>
          </a:solidFill>
          <a:ln w="12700">
            <a:solidFill>
              <a:srgbClr val="5B6472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Load preset: pitch, formant, tempo, rasp</a:t>
            </a:r>
          </a:p>
        </p:txBody>
      </p:sp>
      <p:sp>
        <p:nvSpPr>
          <p:cNvPr id="5264" name="Flow 5264"/>
          <p:cNvSpPr/>
          <p:nvPr/>
        </p:nvSpPr>
        <p:spPr>
          <a:xfrm>
            <a:off x="7307427" y="327355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Shift the harmonics by the pitch ratio</a:t>
            </a:r>
          </a:p>
        </p:txBody>
      </p:sp>
      <p:sp>
        <p:nvSpPr>
          <p:cNvPr id="5265" name="Flow 5265"/>
          <p:cNvSpPr/>
          <p:nvPr/>
        </p:nvSpPr>
        <p:spPr>
          <a:xfrm>
            <a:off x="7307427" y="391363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Reshape the envelope (throat size)</a:t>
            </a:r>
          </a:p>
        </p:txBody>
      </p:sp>
      <p:sp>
        <p:nvSpPr>
          <p:cNvPr id="5266" name="Flow 5266"/>
          <p:cNvSpPr/>
          <p:nvPr/>
        </p:nvSpPr>
        <p:spPr>
          <a:xfrm>
            <a:off x="7307427" y="455371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Match energy, add rasp + breath, EQ</a:t>
            </a:r>
          </a:p>
        </p:txBody>
      </p:sp>
      <p:sp>
        <p:nvSpPr>
          <p:cNvPr id="5267" name="Flow 5267"/>
          <p:cNvSpPr/>
          <p:nvPr/>
        </p:nvSpPr>
        <p:spPr>
          <a:xfrm>
            <a:off x="7307427" y="519379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Change the tempo</a:t>
            </a:r>
          </a:p>
        </p:txBody>
      </p:sp>
      <p:sp>
        <p:nvSpPr>
          <p:cNvPr id="5268" name="Flow 5268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Caricature out</a:t>
            </a:r>
          </a:p>
        </p:txBody>
      </p:sp>
      <p:cxnSp>
        <p:nvCxnSpPr>
          <p:cNvPr id="5269" name="Connector 5269"/>
          <p:cNvCxnSpPr/>
          <p:nvPr/>
        </p:nvCxnSpPr>
        <p:spPr>
          <a:xfrm>
            <a:off x="8907628" y="24323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70" name="Connector 5270"/>
          <p:cNvCxnSpPr/>
          <p:nvPr/>
        </p:nvCxnSpPr>
        <p:spPr>
          <a:xfrm>
            <a:off x="8907628" y="307238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71" name="Connector 5271"/>
          <p:cNvCxnSpPr/>
          <p:nvPr/>
        </p:nvCxnSpPr>
        <p:spPr>
          <a:xfrm>
            <a:off x="8907628" y="371246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72" name="Connector 5272"/>
          <p:cNvCxnSpPr/>
          <p:nvPr/>
        </p:nvCxnSpPr>
        <p:spPr>
          <a:xfrm>
            <a:off x="8907628" y="435254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73" name="Connector 5273"/>
          <p:cNvCxnSpPr/>
          <p:nvPr/>
        </p:nvCxnSpPr>
        <p:spPr>
          <a:xfrm>
            <a:off x="8907628" y="499262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74" name="Connector 5274"/>
          <p:cNvCxnSpPr/>
          <p:nvPr/>
        </p:nvCxnSpPr>
        <p:spPr>
          <a:xfrm>
            <a:off x="8907628" y="56327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Match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your voice toward another speaker's, learned from one shared script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108131" y="502920"/>
            <a:ext cx="534924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08131" y="502920"/>
            <a:ext cx="53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the target each read the same script once. The two readings are aligned in time; from that pairing the card learns how to move your pitch range and vowel colour toward theirs.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three files: your calibration, their calibration, and the take to convert.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take, drag Voice Match in and pick Your calibration / Their calibration.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(%) and Timbre (%) strengths; quick chips Pitch only / Timbre only / Full.</a:t>
            </a:r>
            <a:endParaRPr lang="en-US" sz="1400" dirty="0"/>
          </a:p>
        </p:txBody>
      </p:sp>
      <p:sp>
        <p:nvSpPr>
          <p:cNvPr id="5275" name="Flow 5275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76" name="Flow 5276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277" name="Flow 5277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Your calibration, theirs, the take</a:t>
            </a:r>
          </a:p>
        </p:txBody>
      </p:sp>
      <p:sp>
        <p:nvSpPr>
          <p:cNvPr id="5278" name="Flow 5278"/>
          <p:cNvSpPr/>
          <p:nvPr/>
        </p:nvSpPr>
        <p:spPr>
          <a:xfrm>
            <a:off x="7307427" y="263347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Analyse pitch + tone every 10 ms</a:t>
            </a:r>
          </a:p>
        </p:txBody>
      </p:sp>
      <p:sp>
        <p:nvSpPr>
          <p:cNvPr id="5279" name="Flow 5279"/>
          <p:cNvSpPr/>
          <p:nvPr/>
        </p:nvSpPr>
        <p:spPr>
          <a:xfrm>
            <a:off x="7307427" y="327355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Line up both readings in time (DTW)</a:t>
            </a:r>
          </a:p>
        </p:txBody>
      </p:sp>
      <p:sp>
        <p:nvSpPr>
          <p:cNvPr id="5280" name="Flow 5280"/>
          <p:cNvSpPr/>
          <p:nvPr/>
        </p:nvSpPr>
        <p:spPr>
          <a:xfrm>
            <a:off x="7307427" y="391363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Store the tone difference per frame</a:t>
            </a:r>
          </a:p>
        </p:txBody>
      </p:sp>
      <p:sp>
        <p:nvSpPr>
          <p:cNvPr id="5281" name="Flow 5281"/>
          <p:cNvSpPr/>
          <p:nvPr/>
        </p:nvSpPr>
        <p:spPr>
          <a:xfrm>
            <a:off x="7307427" y="455371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For each take frame: map pitch, find 8 nearest</a:t>
            </a:r>
          </a:p>
        </p:txBody>
      </p:sp>
      <p:sp>
        <p:nvSpPr>
          <p:cNvPr id="5282" name="Flow 5282"/>
          <p:cNvSpPr/>
          <p:nvPr/>
        </p:nvSpPr>
        <p:spPr>
          <a:xfrm>
            <a:off x="7307427" y="519379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Correct the tone and resynthesise</a:t>
            </a:r>
          </a:p>
        </p:txBody>
      </p:sp>
      <p:sp>
        <p:nvSpPr>
          <p:cNvPr id="5283" name="Flow 5283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Your voice, closer to theirs</a:t>
            </a:r>
          </a:p>
        </p:txBody>
      </p:sp>
      <p:cxnSp>
        <p:nvCxnSpPr>
          <p:cNvPr id="5284" name="Connector 5284"/>
          <p:cNvCxnSpPr/>
          <p:nvPr/>
        </p:nvCxnSpPr>
        <p:spPr>
          <a:xfrm>
            <a:off x="8907628" y="24323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85" name="Connector 5285"/>
          <p:cNvCxnSpPr/>
          <p:nvPr/>
        </p:nvCxnSpPr>
        <p:spPr>
          <a:xfrm>
            <a:off x="8907628" y="307238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86" name="Connector 5286"/>
          <p:cNvCxnSpPr/>
          <p:nvPr/>
        </p:nvCxnSpPr>
        <p:spPr>
          <a:xfrm>
            <a:off x="8907628" y="371246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87" name="Connector 5287"/>
          <p:cNvCxnSpPr/>
          <p:nvPr/>
        </p:nvCxnSpPr>
        <p:spPr>
          <a:xfrm>
            <a:off x="8907628" y="435254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88" name="Connector 5288"/>
          <p:cNvCxnSpPr/>
          <p:nvPr/>
        </p:nvCxnSpPr>
        <p:spPr>
          <a:xfrm>
            <a:off x="8907628" y="499262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289" name="Connector 5289"/>
          <p:cNvCxnSpPr/>
          <p:nvPr/>
        </p:nvCxnSpPr>
        <p:spPr>
          <a:xfrm>
            <a:off x="8907628" y="56327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&amp; Trim · Reverse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part, cut a part out, or play it backwards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185855" y="50292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85855" y="5029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editing cards. Cut &amp; Trim keeps only the selection or removes it and joins the two sides. Reverse plays the whole clip — or only a part — backwards.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Cut &amp; Trim in; Action = Keep the selection / Cut it out.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green region on the Input waveform (or type From / To; To = 0 means the end).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Reverse: The whole clip, or Only a part via the violet region.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preview plays the span, or 2 s either side of a cut to hear the join.</a:t>
            </a:r>
            <a:endParaRPr lang="en-US" sz="1400" dirty="0"/>
          </a:p>
        </p:txBody>
      </p:sp>
      <p:sp>
        <p:nvSpPr>
          <p:cNvPr id="5290" name="Flow 5290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291" name="Flow 5291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292" name="Flow 5292"/>
          <p:cNvSpPr/>
          <p:nvPr/>
        </p:nvSpPr>
        <p:spPr>
          <a:xfrm>
            <a:off x="7398867" y="2048256"/>
            <a:ext cx="3017520" cy="323805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Audio + selected region</a:t>
            </a:r>
          </a:p>
        </p:txBody>
      </p:sp>
      <p:sp>
        <p:nvSpPr>
          <p:cNvPr id="5293" name="Flow 5293"/>
          <p:cNvSpPr/>
          <p:nvPr/>
        </p:nvSpPr>
        <p:spPr>
          <a:xfrm>
            <a:off x="7444588" y="2518365"/>
            <a:ext cx="2926080" cy="508837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Reverse card?</a:t>
            </a:r>
          </a:p>
        </p:txBody>
      </p:sp>
      <p:sp>
        <p:nvSpPr>
          <p:cNvPr id="5294" name="Flow 5294"/>
          <p:cNvSpPr/>
          <p:nvPr/>
        </p:nvSpPr>
        <p:spPr>
          <a:xfrm>
            <a:off x="7307427" y="3173506"/>
            <a:ext cx="3200400" cy="370063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Play the region backwards</a:t>
            </a:r>
          </a:p>
        </p:txBody>
      </p:sp>
      <p:sp>
        <p:nvSpPr>
          <p:cNvPr id="5295" name="Flow 5295"/>
          <p:cNvSpPr/>
          <p:nvPr/>
        </p:nvSpPr>
        <p:spPr>
          <a:xfrm>
            <a:off x="7444588" y="3689873"/>
            <a:ext cx="2926080" cy="508837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Keep the selection?</a:t>
            </a:r>
          </a:p>
        </p:txBody>
      </p:sp>
      <p:sp>
        <p:nvSpPr>
          <p:cNvPr id="5296" name="Flow 5296"/>
          <p:cNvSpPr/>
          <p:nvPr/>
        </p:nvSpPr>
        <p:spPr>
          <a:xfrm>
            <a:off x="7307427" y="4345014"/>
            <a:ext cx="3200400" cy="370063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Trim: keep only the selection</a:t>
            </a:r>
          </a:p>
        </p:txBody>
      </p:sp>
      <p:sp>
        <p:nvSpPr>
          <p:cNvPr id="5297" name="Flow 5297"/>
          <p:cNvSpPr/>
          <p:nvPr/>
        </p:nvSpPr>
        <p:spPr>
          <a:xfrm>
            <a:off x="7307427" y="4861381"/>
            <a:ext cx="3200400" cy="370063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Splice: cut it out, join the sides</a:t>
            </a:r>
          </a:p>
        </p:txBody>
      </p:sp>
      <p:sp>
        <p:nvSpPr>
          <p:cNvPr id="5298" name="Flow 5298"/>
          <p:cNvSpPr/>
          <p:nvPr/>
        </p:nvSpPr>
        <p:spPr>
          <a:xfrm>
            <a:off x="7307427" y="5377748"/>
            <a:ext cx="3200400" cy="370063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5 ms fade at every new edge</a:t>
            </a:r>
          </a:p>
        </p:txBody>
      </p:sp>
      <p:sp>
        <p:nvSpPr>
          <p:cNvPr id="5299" name="Flow 5299"/>
          <p:cNvSpPr/>
          <p:nvPr/>
        </p:nvSpPr>
        <p:spPr>
          <a:xfrm>
            <a:off x="7398867" y="5894115"/>
            <a:ext cx="3017520" cy="323805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Edited audio out</a:t>
            </a:r>
          </a:p>
        </p:txBody>
      </p:sp>
      <p:cxnSp>
        <p:nvCxnSpPr>
          <p:cNvPr id="5300" name="Connector 5300"/>
          <p:cNvCxnSpPr/>
          <p:nvPr/>
        </p:nvCxnSpPr>
        <p:spPr>
          <a:xfrm>
            <a:off x="8907628" y="2372061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01" name="Connector 5301"/>
          <p:cNvCxnSpPr/>
          <p:nvPr/>
        </p:nvCxnSpPr>
        <p:spPr>
          <a:xfrm>
            <a:off x="8907628" y="3027202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302" name="Flow 5302"/>
          <p:cNvSpPr txBox="1"/>
          <p:nvPr/>
        </p:nvSpPr>
        <p:spPr>
          <a:xfrm>
            <a:off x="8980780" y="300891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303" name="Connector 5303"/>
          <p:cNvCxnSpPr/>
          <p:nvPr/>
        </p:nvCxnSpPr>
        <p:spPr>
          <a:xfrm flipH="1">
            <a:off x="6309360" y="2772784"/>
            <a:ext cx="1135228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04" name="Connector 5304"/>
          <p:cNvCxnSpPr/>
          <p:nvPr/>
        </p:nvCxnSpPr>
        <p:spPr>
          <a:xfrm>
            <a:off x="6309360" y="2772784"/>
            <a:ext cx="0" cy="1171508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05" name="Connector 5305"/>
          <p:cNvCxnSpPr/>
          <p:nvPr/>
        </p:nvCxnSpPr>
        <p:spPr>
          <a:xfrm>
            <a:off x="6309360" y="3944291"/>
            <a:ext cx="1135228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306" name="Flow 5306"/>
          <p:cNvSpPr txBox="1"/>
          <p:nvPr/>
        </p:nvSpPr>
        <p:spPr>
          <a:xfrm>
            <a:off x="7033108" y="255332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307" name="Connector 5307"/>
          <p:cNvCxnSpPr/>
          <p:nvPr/>
        </p:nvCxnSpPr>
        <p:spPr>
          <a:xfrm>
            <a:off x="10507828" y="3358537"/>
            <a:ext cx="99806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08" name="Connector 5308"/>
          <p:cNvCxnSpPr/>
          <p:nvPr/>
        </p:nvCxnSpPr>
        <p:spPr>
          <a:xfrm>
            <a:off x="11505895" y="3358537"/>
            <a:ext cx="0" cy="2204242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09" name="Connector 5309"/>
          <p:cNvCxnSpPr/>
          <p:nvPr/>
        </p:nvCxnSpPr>
        <p:spPr>
          <a:xfrm flipH="1">
            <a:off x="10507828" y="5562779"/>
            <a:ext cx="99806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10" name="Connector 5310"/>
          <p:cNvCxnSpPr/>
          <p:nvPr/>
        </p:nvCxnSpPr>
        <p:spPr>
          <a:xfrm>
            <a:off x="8907628" y="4198710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311" name="Flow 5311"/>
          <p:cNvSpPr txBox="1"/>
          <p:nvPr/>
        </p:nvSpPr>
        <p:spPr>
          <a:xfrm>
            <a:off x="8980780" y="4180422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  <p:cxnSp>
        <p:nvCxnSpPr>
          <p:cNvPr id="5312" name="Connector 5312"/>
          <p:cNvCxnSpPr/>
          <p:nvPr/>
        </p:nvCxnSpPr>
        <p:spPr>
          <a:xfrm flipH="1">
            <a:off x="6510528" y="3944291"/>
            <a:ext cx="934060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13" name="Connector 5313"/>
          <p:cNvCxnSpPr/>
          <p:nvPr/>
        </p:nvCxnSpPr>
        <p:spPr>
          <a:xfrm>
            <a:off x="6510528" y="3944291"/>
            <a:ext cx="0" cy="1102121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14" name="Connector 5314"/>
          <p:cNvCxnSpPr/>
          <p:nvPr/>
        </p:nvCxnSpPr>
        <p:spPr>
          <a:xfrm>
            <a:off x="6510528" y="5046412"/>
            <a:ext cx="796900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315" name="Flow 5315"/>
          <p:cNvSpPr txBox="1"/>
          <p:nvPr/>
        </p:nvSpPr>
        <p:spPr>
          <a:xfrm>
            <a:off x="7033108" y="3724835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316" name="Connector 5316"/>
          <p:cNvCxnSpPr/>
          <p:nvPr/>
        </p:nvCxnSpPr>
        <p:spPr>
          <a:xfrm>
            <a:off x="10507828" y="4530045"/>
            <a:ext cx="796899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17" name="Connector 5317"/>
          <p:cNvCxnSpPr/>
          <p:nvPr/>
        </p:nvCxnSpPr>
        <p:spPr>
          <a:xfrm>
            <a:off x="11304727" y="4530045"/>
            <a:ext cx="0" cy="1032734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18" name="Connector 5318"/>
          <p:cNvCxnSpPr/>
          <p:nvPr/>
        </p:nvCxnSpPr>
        <p:spPr>
          <a:xfrm flipH="1">
            <a:off x="10507828" y="5562779"/>
            <a:ext cx="796899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19" name="Connector 5319"/>
          <p:cNvCxnSpPr/>
          <p:nvPr/>
        </p:nvCxnSpPr>
        <p:spPr>
          <a:xfrm>
            <a:off x="8907628" y="5231444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20" name="Connector 5320"/>
          <p:cNvCxnSpPr/>
          <p:nvPr/>
        </p:nvCxnSpPr>
        <p:spPr>
          <a:xfrm>
            <a:off x="8907628" y="5747811"/>
            <a:ext cx="0" cy="146304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 timeline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multitrack timeline — the mix is simply a sum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185855" y="50292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185855" y="5029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Arrange tab holds blocks, each a piece of another tab's PROCESSED audio placed at a time with its own volume. The tab's audio is all blocks added together; its recipe then runs on that mix.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Arrange tab; drag file blocks onto lanes.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trim edges, Alt-drag to copy, S splits at the cursor, per-block volume.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2 is still a recipe — it runs on the mix.</a:t>
            </a:r>
            <a:endParaRPr lang="en-US" sz="1400" dirty="0"/>
          </a:p>
        </p:txBody>
      </p:sp>
      <p:sp>
        <p:nvSpPr>
          <p:cNvPr id="5321" name="Flow 5321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22" name="Flow 5322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323" name="Flow 5323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Arrange tab bakes</a:t>
            </a:r>
          </a:p>
        </p:txBody>
      </p:sp>
      <p:sp>
        <p:nvSpPr>
          <p:cNvPr id="5324" name="Flow 5324"/>
          <p:cNvSpPr/>
          <p:nvPr/>
        </p:nvSpPr>
        <p:spPr>
          <a:xfrm>
            <a:off x="7307427" y="2606040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Take the next block</a:t>
            </a:r>
          </a:p>
        </p:txBody>
      </p:sp>
      <p:sp>
        <p:nvSpPr>
          <p:cNvPr id="5325" name="Flow 5325"/>
          <p:cNvSpPr/>
          <p:nvPr/>
        </p:nvSpPr>
        <p:spPr>
          <a:xfrm>
            <a:off x="7307427" y="3218688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Get its tab's processed audio, trim, fade</a:t>
            </a:r>
          </a:p>
        </p:txBody>
      </p:sp>
      <p:sp>
        <p:nvSpPr>
          <p:cNvPr id="5326" name="Flow 5326"/>
          <p:cNvSpPr/>
          <p:nvPr/>
        </p:nvSpPr>
        <p:spPr>
          <a:xfrm>
            <a:off x="7307427" y="3831336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Set its volume, add it at its start time</a:t>
            </a:r>
          </a:p>
        </p:txBody>
      </p:sp>
      <p:sp>
        <p:nvSpPr>
          <p:cNvPr id="5327" name="Flow 5327"/>
          <p:cNvSpPr/>
          <p:nvPr/>
        </p:nvSpPr>
        <p:spPr>
          <a:xfrm>
            <a:off x="7444588" y="4443984"/>
            <a:ext cx="2926080" cy="603504"/>
          </a:xfrm>
          <a:prstGeom prst="flowChartDecision">
            <a:avLst/>
          </a:prstGeom>
          <a:solidFill>
            <a:srgbClr val="E3F2F0"/>
          </a:solidFill>
          <a:ln w="12700">
            <a:solidFill>
              <a:srgbClr val="1B7F76"/>
            </a:solidFill>
          </a:ln>
        </p:spPr>
        <p:txBody>
          <a:bodyPr wrap="square" lIns="137160" tIns="0" rIns="13716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More blocks?</a:t>
            </a:r>
          </a:p>
        </p:txBody>
      </p:sp>
      <p:sp>
        <p:nvSpPr>
          <p:cNvPr id="5328" name="Flow 5328"/>
          <p:cNvSpPr/>
          <p:nvPr/>
        </p:nvSpPr>
        <p:spPr>
          <a:xfrm>
            <a:off x="7307427" y="5221224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Too loud? Turn the whole mix down</a:t>
            </a:r>
          </a:p>
        </p:txBody>
      </p:sp>
      <p:sp>
        <p:nvSpPr>
          <p:cNvPr id="5329" name="Flow 5329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Mix → the tab's own recipe</a:t>
            </a:r>
          </a:p>
        </p:txBody>
      </p:sp>
      <p:cxnSp>
        <p:nvCxnSpPr>
          <p:cNvPr id="5330" name="Connector 5330"/>
          <p:cNvCxnSpPr/>
          <p:nvPr/>
        </p:nvCxnSpPr>
        <p:spPr>
          <a:xfrm>
            <a:off x="8907628" y="2432304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31" name="Connector 5331"/>
          <p:cNvCxnSpPr/>
          <p:nvPr/>
        </p:nvCxnSpPr>
        <p:spPr>
          <a:xfrm>
            <a:off x="8907628" y="3044952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32" name="Connector 5332"/>
          <p:cNvCxnSpPr/>
          <p:nvPr/>
        </p:nvCxnSpPr>
        <p:spPr>
          <a:xfrm>
            <a:off x="8907628" y="3657600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33" name="Connector 5333"/>
          <p:cNvCxnSpPr/>
          <p:nvPr/>
        </p:nvCxnSpPr>
        <p:spPr>
          <a:xfrm>
            <a:off x="8907628" y="4270248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34" name="Connector 5334"/>
          <p:cNvCxnSpPr/>
          <p:nvPr/>
        </p:nvCxnSpPr>
        <p:spPr>
          <a:xfrm>
            <a:off x="8907628" y="5660136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35" name="Connector 5335"/>
          <p:cNvCxnSpPr/>
          <p:nvPr/>
        </p:nvCxnSpPr>
        <p:spPr>
          <a:xfrm>
            <a:off x="8907628" y="5047488"/>
            <a:ext cx="0" cy="173736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336" name="Flow 5336"/>
          <p:cNvSpPr txBox="1"/>
          <p:nvPr/>
        </p:nvSpPr>
        <p:spPr>
          <a:xfrm>
            <a:off x="8980780" y="502920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No</a:t>
            </a:r>
          </a:p>
        </p:txBody>
      </p:sp>
      <p:cxnSp>
        <p:nvCxnSpPr>
          <p:cNvPr id="5337" name="Connector 5337"/>
          <p:cNvCxnSpPr/>
          <p:nvPr/>
        </p:nvCxnSpPr>
        <p:spPr>
          <a:xfrm>
            <a:off x="10370668" y="4745736"/>
            <a:ext cx="1135227" cy="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38" name="Connector 5338"/>
          <p:cNvCxnSpPr/>
          <p:nvPr/>
        </p:nvCxnSpPr>
        <p:spPr>
          <a:xfrm flipV="1">
            <a:off x="11505895" y="2825496"/>
            <a:ext cx="0" cy="1920240"/>
          </a:xfrm>
          <a:prstGeom prst="line">
            <a:avLst/>
          </a:prstGeom>
          <a:ln w="15875">
            <a:solidFill>
              <a:srgbClr val="5B6472"/>
            </a:solidFill>
          </a:ln>
        </p:spPr>
      </p:cxnSp>
      <p:cxnSp>
        <p:nvCxnSpPr>
          <p:cNvPr id="5339" name="Connector 5339"/>
          <p:cNvCxnSpPr/>
          <p:nvPr/>
        </p:nvCxnSpPr>
        <p:spPr>
          <a:xfrm flipH="1">
            <a:off x="10507828" y="2825496"/>
            <a:ext cx="998067" cy="0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sp>
        <p:nvSpPr>
          <p:cNvPr id="5340" name="Flow 5340"/>
          <p:cNvSpPr txBox="1"/>
          <p:nvPr/>
        </p:nvSpPr>
        <p:spPr>
          <a:xfrm>
            <a:off x="10416388" y="4526280"/>
            <a:ext cx="4343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7F76"/>
                </a:solidFill>
                <a:latin typeface="Calibri" pitchFamily="34" charset="0"/>
                <a:cs typeface="Calibri" pitchFamily="34" charset="0"/>
              </a:rPr>
              <a:t>Yes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Doctor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what is wrong with a recording and prescribes the recipe to fix 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874959" y="502920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74959" y="5029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184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Clipping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1618488"/>
            <a:ext cx="2712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De-clip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196596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 ≥ 3 samples at ≥ 99.9 % of peak, peak ≥ −1 dBFS; read per channel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551176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6609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2660904"/>
            <a:ext cx="2712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Noise Remover + low-pass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008376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Pauses' noise floor &gt; −60 dBFS and &gt; 50 % of its power above 2 kHz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593592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Mains hum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017520" y="3703320"/>
            <a:ext cx="2712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Filter notches, Q = 30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05079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50/60 Hz line and harmonics ≥ 12 dB above the max of their neighbourhood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636008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7457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offset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017520" y="4745736"/>
            <a:ext cx="2712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Level &amp; DC (DC only)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093208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|mean(x)| &gt; 0.01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33008" y="1508760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61608" y="16184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level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701888" y="1618488"/>
            <a:ext cx="2712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Level (+ Compressor if crest &gt; 20 dB)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61608" y="1965960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of active hops &lt; −30 dBFS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33008" y="2551176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61608" y="26609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silences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701888" y="2660904"/>
            <a:ext cx="2712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Silence Remover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6461608" y="3008376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≥ 0.3 s below min(−40, L90 − 30) dB &gt; 20 % of the file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233008" y="3593592"/>
            <a:ext cx="541004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61608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Stereo balance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701888" y="3703320"/>
            <a:ext cx="2712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Info only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461608" y="405079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L/R RMS differ &gt; 3 dB, or correlation &lt; −0.3 (mono fold cancels)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233008" y="4636008"/>
            <a:ext cx="5410048" cy="1764792"/>
          </a:xfrm>
          <a:prstGeom prst="roundRect">
            <a:avLst>
              <a:gd name="adj" fmla="val 4145"/>
            </a:avLst>
          </a:prstGeom>
          <a:solidFill>
            <a:srgbClr val="12151C"/>
          </a:solidFill>
          <a:ln w="12700">
            <a:solidFill>
              <a:srgbClr val="12151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61608" y="4764024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ORDER (ORDER CHANGES THE SOUND)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461608" y="5047488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→ de-clip → hum → noise → low-pass → silence → compressor → level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461608" y="5550408"/>
            <a:ext cx="495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461608" y="5824728"/>
            <a:ext cx="495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Signal Doctor in column 3, read the Original / Processed checklist, press “Fix automatically” — the fixes arrive as ordinary cards you can tweak or bypass.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840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Spectrogram &amp; Listen Stats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932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what changed: frequency over time, and the numbers before vs after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874959" y="502920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1B7F76"/>
          </a:solidFill>
          <a:ln w="12700">
            <a:solidFill>
              <a:srgbClr val="1B7F7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874959" y="5029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00297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72768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47088"/>
            <a:ext cx="5257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spectrogram under each waveform (time → right, pitch → up, brightness = loudness), and a Listen Stats table comparing input with output: peak, RMS, crest factor, DC, ZCR, spectral centroid.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8912" y="3154680"/>
            <a:ext cx="5477256" cy="3191256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30098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30168"/>
            <a:ext cx="507492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on: load a file and bake any recipe.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Input and Output spectrograms; Filter steps draw dashed cutoff lines on both.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switch (or press B) jumps between input and output at the same point.</a:t>
            </a:r>
            <a:endParaRPr lang="en-US" sz="1400" dirty="0"/>
          </a:p>
        </p:txBody>
      </p:sp>
      <p:sp>
        <p:nvSpPr>
          <p:cNvPr id="5341" name="Flow 5341"/>
          <p:cNvSpPr/>
          <p:nvPr/>
        </p:nvSpPr>
        <p:spPr>
          <a:xfrm>
            <a:off x="6172200" y="1481328"/>
            <a:ext cx="5470855" cy="4919472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42" name="Flow 5342"/>
          <p:cNvSpPr txBox="1"/>
          <p:nvPr/>
        </p:nvSpPr>
        <p:spPr>
          <a:xfrm>
            <a:off x="6446520" y="1664208"/>
            <a:ext cx="492221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dirty="0">
                <a:solidFill>
                  <a:srgbClr val="B8740E"/>
                </a:solidFill>
                <a:latin typeface="Calibri" pitchFamily="34" charset="0"/>
                <a:cs typeface="Calibri" pitchFamily="34" charset="0"/>
              </a:rPr>
              <a:t>HOW IT WORKS</a:t>
            </a:r>
          </a:p>
        </p:txBody>
      </p:sp>
      <p:sp>
        <p:nvSpPr>
          <p:cNvPr id="5343" name="Flow 5343"/>
          <p:cNvSpPr/>
          <p:nvPr/>
        </p:nvSpPr>
        <p:spPr>
          <a:xfrm>
            <a:off x="7398867" y="2048256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Input and output audio</a:t>
            </a:r>
          </a:p>
        </p:txBody>
      </p:sp>
      <p:sp>
        <p:nvSpPr>
          <p:cNvPr id="5344" name="Flow 5344"/>
          <p:cNvSpPr/>
          <p:nvPr/>
        </p:nvSpPr>
        <p:spPr>
          <a:xfrm>
            <a:off x="7307427" y="263347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Split into frames (STFT)</a:t>
            </a:r>
          </a:p>
        </p:txBody>
      </p:sp>
      <p:sp>
        <p:nvSpPr>
          <p:cNvPr id="5345" name="Flow 5345"/>
          <p:cNvSpPr/>
          <p:nvPr/>
        </p:nvSpPr>
        <p:spPr>
          <a:xfrm>
            <a:off x="7307427" y="327355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Loudness of each bin in dB</a:t>
            </a:r>
          </a:p>
        </p:txBody>
      </p:sp>
      <p:sp>
        <p:nvSpPr>
          <p:cNvPr id="5346" name="Flow 5346"/>
          <p:cNvSpPr/>
          <p:nvPr/>
        </p:nvSpPr>
        <p:spPr>
          <a:xfrm>
            <a:off x="7307427" y="391363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Group bins into 160 rows, 40 Hz–16 kHz</a:t>
            </a:r>
          </a:p>
        </p:txBody>
      </p:sp>
      <p:sp>
        <p:nvSpPr>
          <p:cNvPr id="5347" name="Flow 5347"/>
          <p:cNvSpPr/>
          <p:nvPr/>
        </p:nvSpPr>
        <p:spPr>
          <a:xfrm>
            <a:off x="7307427" y="455371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Colour on a fixed −90…0 dB scale</a:t>
            </a:r>
          </a:p>
        </p:txBody>
      </p:sp>
      <p:sp>
        <p:nvSpPr>
          <p:cNvPr id="5348" name="Flow 5348"/>
          <p:cNvSpPr/>
          <p:nvPr/>
        </p:nvSpPr>
        <p:spPr>
          <a:xfrm>
            <a:off x="7307427" y="5193792"/>
            <a:ext cx="3200400" cy="438912"/>
          </a:xfrm>
          <a:prstGeom prst="flowChartProcess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029"/>
                </a:solidFill>
                <a:latin typeface="Calibri" pitchFamily="34" charset="0"/>
                <a:cs typeface="Calibri" pitchFamily="34" charset="0"/>
              </a:rPr>
              <a:t>Measure peak, RMS, crest, DC, ZCR</a:t>
            </a:r>
          </a:p>
        </p:txBody>
      </p:sp>
      <p:sp>
        <p:nvSpPr>
          <p:cNvPr id="5349" name="Flow 5349"/>
          <p:cNvSpPr/>
          <p:nvPr/>
        </p:nvSpPr>
        <p:spPr>
          <a:xfrm>
            <a:off x="7398867" y="5833872"/>
            <a:ext cx="3017520" cy="384048"/>
          </a:xfrm>
          <a:prstGeom prst="flowChartTerminator">
            <a:avLst/>
          </a:prstGeom>
          <a:solidFill>
            <a:srgbClr val="1B2029"/>
          </a:solidFill>
          <a:ln w="12700">
            <a:solidFill>
              <a:srgbClr val="1B2029"/>
            </a:solidFill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Spectrograms + Listen Stats</a:t>
            </a:r>
          </a:p>
        </p:txBody>
      </p:sp>
      <p:cxnSp>
        <p:nvCxnSpPr>
          <p:cNvPr id="5350" name="Connector 5350"/>
          <p:cNvCxnSpPr/>
          <p:nvPr/>
        </p:nvCxnSpPr>
        <p:spPr>
          <a:xfrm>
            <a:off x="8907628" y="24323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51" name="Connector 5351"/>
          <p:cNvCxnSpPr/>
          <p:nvPr/>
        </p:nvCxnSpPr>
        <p:spPr>
          <a:xfrm>
            <a:off x="8907628" y="307238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52" name="Connector 5352"/>
          <p:cNvCxnSpPr/>
          <p:nvPr/>
        </p:nvCxnSpPr>
        <p:spPr>
          <a:xfrm>
            <a:off x="8907628" y="371246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53" name="Connector 5353"/>
          <p:cNvCxnSpPr/>
          <p:nvPr/>
        </p:nvCxnSpPr>
        <p:spPr>
          <a:xfrm>
            <a:off x="8907628" y="435254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54" name="Connector 5354"/>
          <p:cNvCxnSpPr/>
          <p:nvPr/>
        </p:nvCxnSpPr>
        <p:spPr>
          <a:xfrm>
            <a:off x="8907628" y="499262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  <p:cxnSp>
        <p:nvCxnSpPr>
          <p:cNvPr id="5355" name="Connector 5355"/>
          <p:cNvCxnSpPr/>
          <p:nvPr/>
        </p:nvCxnSpPr>
        <p:spPr>
          <a:xfrm>
            <a:off x="8907628" y="5632704"/>
            <a:ext cx="0" cy="201168"/>
          </a:xfrm>
          <a:prstGeom prst="line">
            <a:avLst/>
          </a:prstGeom>
          <a:ln w="15875">
            <a:solidFill>
              <a:srgbClr val="5B6472"/>
            </a:solidFill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98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session, start to finish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36003" cy="2743200"/>
          </a:xfrm>
          <a:prstGeom prst="roundRect">
            <a:avLst>
              <a:gd name="adj" fmla="val 4491"/>
            </a:avLst>
          </a:prstGeom>
          <a:solidFill>
            <a:srgbClr val="1C212B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4460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0896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audio in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6616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file, browse, or record from the mic (localhost only — getUserMedia needs a secure context).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13243" y="2011680"/>
            <a:ext cx="2036003" cy="2743200"/>
          </a:xfrm>
          <a:prstGeom prst="roundRect">
            <a:avLst>
              <a:gd name="adj" fmla="val 4491"/>
            </a:avLst>
          </a:prstGeom>
          <a:solidFill>
            <a:srgbClr val="1C212B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41843" y="228600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63" y="24460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41843" y="310896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41843" y="356616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Doctor lists what is wrong; Fix automatically appends the cards.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77846" y="2011680"/>
            <a:ext cx="2036003" cy="2743200"/>
          </a:xfrm>
          <a:prstGeom prst="roundRect">
            <a:avLst>
              <a:gd name="adj" fmla="val 4491"/>
            </a:avLst>
          </a:prstGeom>
          <a:solidFill>
            <a:srgbClr val="1C212B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06446" y="228600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466" y="24460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06446" y="310896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the recipe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306446" y="356616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cards, try quick chips or a preset (Podcast cleanup, Radio voice, Nightcore…). Bypass to compare one step.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42449" y="2011680"/>
            <a:ext cx="2036003" cy="2743200"/>
          </a:xfrm>
          <a:prstGeom prst="roundRect">
            <a:avLst>
              <a:gd name="adj" fmla="val 4491"/>
            </a:avLst>
          </a:prstGeom>
          <a:solidFill>
            <a:srgbClr val="1C212B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71049" y="228600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069" y="24460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71049" y="310896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571049" y="356616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switch or the B key; spectrograms and Listen Stats show what changed.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607052" y="2011680"/>
            <a:ext cx="2036003" cy="2743200"/>
          </a:xfrm>
          <a:prstGeom prst="roundRect">
            <a:avLst>
              <a:gd name="adj" fmla="val 4491"/>
            </a:avLst>
          </a:prstGeom>
          <a:solidFill>
            <a:srgbClr val="1C212B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835652" y="228600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5672" y="24460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35652" y="3108960"/>
            <a:ext cx="15788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835652" y="356616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WAV downloads the processed 16-bit file.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7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effect is plain numpy, with its derivation written out in the module docstring.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Chef</dc:title>
  <dc:subject>PptxGenJS Presentation</dc:subject>
  <dc:creator>Audio Chef</dc:creator>
  <cp:lastModifiedBy>Audio Chef</cp:lastModifiedBy>
  <cp:revision>1</cp:revision>
  <dcterms:created xsi:type="dcterms:W3CDTF">2026-09-23T15:06:45Z</dcterms:created>
  <dcterms:modified xsi:type="dcterms:W3CDTF">2026-09-23T15:06:45Z</dcterms:modified>
</cp:coreProperties>
</file>