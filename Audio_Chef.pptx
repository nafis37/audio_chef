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Audio Chef is a browser app with a Python DSP backend. The idea comes from CyberChef: operations are cards you drag into a recipe; they run top to bottom and the output updates as you move sliders.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Audio can come from a dropped file, a file browser or the microphone recorder. Anything libsndfile can decode works: WAV, MP3, FLAC, OGG/Vorbis, Opus, AIFF, W64, CAF, AU. The hard rule: effects are implemented by hand. Only numpy (rfft/irfft, interp, convolve) and scipy.signal.lfilter to RUN coefficients we derived ourselves. librosa, noisereduce, pedalboard and scipy's filter designers are banned.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Vite proxies /api to the FastAPI server on port 8000. The frontend never hard-codes a control: add a parameter to OPERATIONS and it appears in the UI. The last four bakes are kept so their spectrograms can be fetched by X-Bake-Id. The mono fold happens in audio_io.load_audio.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periodic Hann (not np.hanning) is what satisfies COLA. Dividing by the window-square sum is the Griffin &amp; Lim least-squares reconstruction when the spectrum has been modified. At the file edges only one tapering window contributes, so the divisor tends to 0; flooring it at half the steady-state value avoids a loud click.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S. F. Boll, Suppression of acoustic noise in speech using spectral subtraction, IEEE Trans. ASSP 1979. The auto profile is a simplified 'minimum statistics' (R. Martin 2001). α &gt; 1 because any one frame's noise sits above its mean half the time. The 3-tap time average cuts the variance of random surviving bins by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Hermite basis functions are each 1 in exactly one of the four boundary conditions and 0 in the other three. The slope rising into the flat top carries the curve above the clip level — that is the lost peak being restored. The level is relative to the file's own peak, so a file that was clipped and then turned down is still repaired.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analysis window (20 ms) is wider than the hop (10 ms), so a single click inside a pause lifts at most two hops. Pauses at the very start or end keep only their inner half.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Near w = 0, |1 − e^{−jw}| ≈ w and |1 − R e^{−jw}| ≈ sqrt((1−R)² + w²), so |H| = 1/√2 at w_c = 1 − R. Subtracting the mean first means the blocker's start-up transient does not appear. An RMS target can push peaks past full scale; the recipe's final fit_to_full_scale turns the whole file down instead of clipping.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R. Bristow-Johnson, Cookbook formulae for audio EQ biquad filter coefficients. Shelves use S = 1 (Q = 1/√2), the steepest slope with no bump. The high shelf is the low shelf with z → −z. A negative gain gives the exact inverse of the boost. Shelves rather than bells for bass/treble, because a shelf moves a whole band — which is what people mean by 'more bass'. (The code block condenses eq.py's _design(), peaking() and the lfilter call.)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 8th-order 50 Hz low-pass written as one polynomial goes unstable in floating point; a cascade of second-order sections does not. Poles are inside the unit circle for 0 &lt; w0 &lt; π and Q &gt; 0, which is why the cutoff is clamped below 0.49 fs. Source: RBJ Cookbook; S. Butterworth 1930.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attack/release switch makes the recursion nonlinear, so it cannot go through lfilter; block_envelope runs it on 1 ms block peaks (a_B = a^B keeps time constants). A causal follower's attack overshoot, lifted ~20 dB by makeup, became the loudest thing in the file — hence lookahead. The soft knee is a quadratic matching both neighbours in value and slope.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 is capped at 0.95; at g = 1 the taps never decay. h[0] = 1 already carries the dry signal, so the mix fades the repeats in. The convolution uses rfft/irfft with both signals padded to at least len(x) + len(h) − 1.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Early reflections at mutually prime delays never line up into a pitched flutter. The noise is drawn from a fixed seed so every bake of the same settings is identical. Schroeder 1962 is the classic reference for artificial reverberation.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identity phase locking (only peaks run the phase recursion; other bins keep their offset from the peak) the output was ~4 dB quieter and metallic. Linear interpolation is a crude sinc² low-pass, so speeding far up aliases a little on bright material.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Laroche &amp; Dolson, New phase-vocoder techniques for pitch-shifting, IEEE WASPAA 1999. Starting from the MEASURED phase matters — a linear phase lines every partial up at one instant (a click). Formants move with the harmonics here, which is why +7 st sounds like a chipmunk rather than a soprano.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person with a higher voice has higher harmonics but formants set by their throat size. Moving both together is the cartoon sound; separating them is what makes these sound like a different person rather than a chipmunk. The card says plainly these are caricatures.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Paired-codebook design in the spirit of Arslan &amp; Talkin 1997 (not a reproduction). The DTW is banded (Sakoe-Chiba) and slope-constrained to [1/2, 2], which lets a whole row be vectorised. Alignment quality is checked against random pairs; bad alignments are rejected. Validated on synthetic source-filter speakers; real-voice resemblance is a listening test, not a pytest claim.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region is drawn on the ORIGINAL input; if an earlier step changed the duration (editor, speed_pitch) the card warns that the two clocks have diverged.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mix_at sizes the output to the union of base and clip and adds the scaled clip at its offset. Lanes exist only in the UI. A block whose source recipe changes duration shows a warning icon.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doctor.diagnose() processes no audio: it measures and returns findings plus one fix recipe in a fixed order. DC first because every later measurement assumes a centred wave; de-clip before any filter smears the flat tops; noise removal before silence detection so the pauses are found; gain last so nothing after it pushes the peak back over. The hum check compares a line's max with the MAX of its neighbourhood, not the median — a median bed flagged ordinary speech as hum.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 44.1 kHz and N = 2048, 40–80 Hz spans 2 bins while 8–16 kHz spans 372; a linear axis would squash all of speech into a thin strip. Waveforms are not normalised either, for the same reason: level changes must be visible.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Run the backend with python3 run.py from backend/ and the frontend with npm run dev from frontend/, then open http://localhost:5173.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15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92240" y="3291840"/>
            <a:ext cx="109728" cy="274320"/>
          </a:xfrm>
          <a:prstGeom prst="roundRect">
            <a:avLst>
              <a:gd name="adj" fmla="val 41667"/>
            </a:avLst>
          </a:prstGeom>
          <a:solidFill>
            <a:srgbClr val="3A4252"/>
          </a:solidFill>
          <a:ln w="12700">
            <a:solidFill>
              <a:srgbClr val="3A425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675120" y="3154680"/>
            <a:ext cx="109728" cy="548640"/>
          </a:xfrm>
          <a:prstGeom prst="roundRect">
            <a:avLst>
              <a:gd name="adj" fmla="val 41667"/>
            </a:avLst>
          </a:prstGeom>
          <a:solidFill>
            <a:srgbClr val="3A4252"/>
          </a:solidFill>
          <a:ln w="12700">
            <a:solidFill>
              <a:srgbClr val="3A425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0" y="2926080"/>
            <a:ext cx="109728" cy="1005840"/>
          </a:xfrm>
          <a:prstGeom prst="roundRect">
            <a:avLst>
              <a:gd name="adj" fmla="val 41667"/>
            </a:avLst>
          </a:prstGeom>
          <a:solidFill>
            <a:srgbClr val="3A4252"/>
          </a:solidFill>
          <a:ln w="12700">
            <a:solidFill>
              <a:srgbClr val="3A425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040880" y="3063240"/>
            <a:ext cx="109728" cy="731520"/>
          </a:xfrm>
          <a:prstGeom prst="roundRect">
            <a:avLst>
              <a:gd name="adj" fmla="val 41667"/>
            </a:avLst>
          </a:prstGeom>
          <a:solidFill>
            <a:srgbClr val="3A4252"/>
          </a:solidFill>
          <a:ln w="12700">
            <a:solidFill>
              <a:srgbClr val="3A425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223760" y="2697480"/>
            <a:ext cx="109728" cy="1463040"/>
          </a:xfrm>
          <a:prstGeom prst="roundRect">
            <a:avLst>
              <a:gd name="adj" fmla="val 41667"/>
            </a:avLst>
          </a:prstGeom>
          <a:solidFill>
            <a:srgbClr val="3A4252"/>
          </a:solidFill>
          <a:ln w="12700">
            <a:solidFill>
              <a:srgbClr val="3A425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06640" y="2423160"/>
            <a:ext cx="109728" cy="2011680"/>
          </a:xfrm>
          <a:prstGeom prst="roundRect">
            <a:avLst>
              <a:gd name="adj" fmla="val 41667"/>
            </a:avLst>
          </a:prstGeom>
          <a:solidFill>
            <a:srgbClr val="3A4252"/>
          </a:solidFill>
          <a:ln w="12700">
            <a:solidFill>
              <a:srgbClr val="3A425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589520" y="2788920"/>
            <a:ext cx="109728" cy="1280160"/>
          </a:xfrm>
          <a:prstGeom prst="roundRect">
            <a:avLst>
              <a:gd name="adj" fmla="val 41667"/>
            </a:avLst>
          </a:prstGeom>
          <a:solidFill>
            <a:srgbClr val="3A4252"/>
          </a:solidFill>
          <a:ln w="12700">
            <a:solidFill>
              <a:srgbClr val="3A425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72400" y="2148840"/>
            <a:ext cx="109728" cy="2560320"/>
          </a:xfrm>
          <a:prstGeom prst="roundRect">
            <a:avLst>
              <a:gd name="adj" fmla="val 41667"/>
            </a:avLst>
          </a:prstGeom>
          <a:solidFill>
            <a:srgbClr val="3A4252"/>
          </a:solidFill>
          <a:ln w="12700">
            <a:solidFill>
              <a:srgbClr val="3A425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955280" y="2560320"/>
            <a:ext cx="109728" cy="1737360"/>
          </a:xfrm>
          <a:prstGeom prst="roundRect">
            <a:avLst>
              <a:gd name="adj" fmla="val 41667"/>
            </a:avLst>
          </a:prstGeom>
          <a:solidFill>
            <a:srgbClr val="3A4252"/>
          </a:solidFill>
          <a:ln w="12700">
            <a:solidFill>
              <a:srgbClr val="3A425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138160" y="2880360"/>
            <a:ext cx="109728" cy="1097280"/>
          </a:xfrm>
          <a:prstGeom prst="roundRect">
            <a:avLst>
              <a:gd name="adj" fmla="val 41667"/>
            </a:avLst>
          </a:prstGeom>
          <a:solidFill>
            <a:srgbClr val="3A4252"/>
          </a:solidFill>
          <a:ln w="12700">
            <a:solidFill>
              <a:srgbClr val="3A425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321040" y="2331720"/>
            <a:ext cx="109728" cy="2194560"/>
          </a:xfrm>
          <a:prstGeom prst="roundRect">
            <a:avLst>
              <a:gd name="adj" fmla="val 41667"/>
            </a:avLst>
          </a:prstGeom>
          <a:solidFill>
            <a:srgbClr val="3A4252"/>
          </a:solidFill>
          <a:ln w="12700">
            <a:solidFill>
              <a:srgbClr val="3A425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503920" y="2057400"/>
            <a:ext cx="109728" cy="2743200"/>
          </a:xfrm>
          <a:prstGeom prst="roundRect">
            <a:avLst>
              <a:gd name="adj" fmla="val 41667"/>
            </a:avLst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686800" y="2468880"/>
            <a:ext cx="109728" cy="1920240"/>
          </a:xfrm>
          <a:prstGeom prst="roundRect">
            <a:avLst>
              <a:gd name="adj" fmla="val 41667"/>
            </a:avLst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869680" y="2834640"/>
            <a:ext cx="109728" cy="1188720"/>
          </a:xfrm>
          <a:prstGeom prst="roundRect">
            <a:avLst>
              <a:gd name="adj" fmla="val 41667"/>
            </a:avLst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052560" y="3017520"/>
            <a:ext cx="109728" cy="822960"/>
          </a:xfrm>
          <a:prstGeom prst="roundRect">
            <a:avLst>
              <a:gd name="adj" fmla="val 41667"/>
            </a:avLst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235440" y="2651760"/>
            <a:ext cx="109728" cy="1554480"/>
          </a:xfrm>
          <a:prstGeom prst="roundRect">
            <a:avLst>
              <a:gd name="adj" fmla="val 41667"/>
            </a:avLst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418320" y="2240280"/>
            <a:ext cx="109728" cy="2377440"/>
          </a:xfrm>
          <a:prstGeom prst="roundRect">
            <a:avLst>
              <a:gd name="adj" fmla="val 41667"/>
            </a:avLst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01200" y="2606040"/>
            <a:ext cx="109728" cy="1645920"/>
          </a:xfrm>
          <a:prstGeom prst="roundRect">
            <a:avLst>
              <a:gd name="adj" fmla="val 41667"/>
            </a:avLst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784080" y="2971800"/>
            <a:ext cx="109728" cy="914400"/>
          </a:xfrm>
          <a:prstGeom prst="roundRect">
            <a:avLst>
              <a:gd name="adj" fmla="val 41667"/>
            </a:avLst>
          </a:prstGeom>
          <a:solidFill>
            <a:srgbClr val="3A4252"/>
          </a:solidFill>
          <a:ln w="12700">
            <a:solidFill>
              <a:srgbClr val="3A425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966960" y="3154680"/>
            <a:ext cx="109728" cy="548640"/>
          </a:xfrm>
          <a:prstGeom prst="roundRect">
            <a:avLst>
              <a:gd name="adj" fmla="val 41667"/>
            </a:avLst>
          </a:prstGeom>
          <a:solidFill>
            <a:srgbClr val="3A4252"/>
          </a:solidFill>
          <a:ln w="12700">
            <a:solidFill>
              <a:srgbClr val="3A425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149840" y="2880360"/>
            <a:ext cx="109728" cy="1097280"/>
          </a:xfrm>
          <a:prstGeom prst="roundRect">
            <a:avLst>
              <a:gd name="adj" fmla="val 41667"/>
            </a:avLst>
          </a:prstGeom>
          <a:solidFill>
            <a:srgbClr val="3A4252"/>
          </a:solidFill>
          <a:ln w="12700">
            <a:solidFill>
              <a:srgbClr val="3A425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332720" y="2514600"/>
            <a:ext cx="109728" cy="1828800"/>
          </a:xfrm>
          <a:prstGeom prst="roundRect">
            <a:avLst>
              <a:gd name="adj" fmla="val 41667"/>
            </a:avLst>
          </a:prstGeom>
          <a:solidFill>
            <a:srgbClr val="3A4252"/>
          </a:solidFill>
          <a:ln w="12700">
            <a:solidFill>
              <a:srgbClr val="3A425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0515600" y="2743200"/>
            <a:ext cx="109728" cy="1371600"/>
          </a:xfrm>
          <a:prstGeom prst="roundRect">
            <a:avLst>
              <a:gd name="adj" fmla="val 41667"/>
            </a:avLst>
          </a:prstGeom>
          <a:solidFill>
            <a:srgbClr val="3A4252"/>
          </a:solidFill>
          <a:ln w="12700">
            <a:solidFill>
              <a:srgbClr val="3A425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698480" y="3063240"/>
            <a:ext cx="109728" cy="731520"/>
          </a:xfrm>
          <a:prstGeom prst="roundRect">
            <a:avLst>
              <a:gd name="adj" fmla="val 41667"/>
            </a:avLst>
          </a:prstGeom>
          <a:solidFill>
            <a:srgbClr val="3A4252"/>
          </a:solidFill>
          <a:ln w="12700">
            <a:solidFill>
              <a:srgbClr val="3A425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881360" y="3200400"/>
            <a:ext cx="109728" cy="457200"/>
          </a:xfrm>
          <a:prstGeom prst="roundRect">
            <a:avLst>
              <a:gd name="adj" fmla="val 41667"/>
            </a:avLst>
          </a:prstGeom>
          <a:solidFill>
            <a:srgbClr val="3A4252"/>
          </a:solidFill>
          <a:ln w="12700">
            <a:solidFill>
              <a:srgbClr val="3A4252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064240" y="3017520"/>
            <a:ext cx="109728" cy="822960"/>
          </a:xfrm>
          <a:prstGeom prst="roundRect">
            <a:avLst>
              <a:gd name="adj" fmla="val 41667"/>
            </a:avLst>
          </a:prstGeom>
          <a:solidFill>
            <a:srgbClr val="3A4252"/>
          </a:solidFill>
          <a:ln w="12700">
            <a:solidFill>
              <a:srgbClr val="3A4252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1247120" y="3246120"/>
            <a:ext cx="109728" cy="365760"/>
          </a:xfrm>
          <a:prstGeom prst="roundRect">
            <a:avLst>
              <a:gd name="adj" fmla="val 41667"/>
            </a:avLst>
          </a:prstGeom>
          <a:solidFill>
            <a:srgbClr val="3A4252"/>
          </a:solidFill>
          <a:ln w="12700">
            <a:solidFill>
              <a:srgbClr val="3A425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1430000" y="3291840"/>
            <a:ext cx="109728" cy="274320"/>
          </a:xfrm>
          <a:prstGeom prst="roundRect">
            <a:avLst>
              <a:gd name="adj" fmla="val 41667"/>
            </a:avLst>
          </a:prstGeom>
          <a:solidFill>
            <a:srgbClr val="3A4252"/>
          </a:solidFill>
          <a:ln w="12700">
            <a:solidFill>
              <a:srgbClr val="3A4252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31520" y="2011680"/>
            <a:ext cx="5760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Audio Chef</a:t>
            </a:r>
            <a:endParaRPr lang="en-US" sz="5400" dirty="0"/>
          </a:p>
        </p:txBody>
      </p:sp>
      <p:sp>
        <p:nvSpPr>
          <p:cNvPr id="31" name="Text 29"/>
          <p:cNvSpPr txBox="1"/>
          <p:nvPr/>
        </p:nvSpPr>
        <p:spPr>
          <a:xfrm>
            <a:off x="731520" y="3017520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CyberChef, but for audio</a:t>
            </a:r>
            <a:endParaRPr lang="en-US" sz="2200" dirty="0"/>
          </a:p>
        </p:txBody>
      </p:sp>
      <p:sp>
        <p:nvSpPr>
          <p:cNvPr id="32" name="Text 30"/>
          <p:cNvSpPr txBox="1"/>
          <p:nvPr/>
        </p:nvSpPr>
        <p:spPr>
          <a:xfrm>
            <a:off x="731520" y="3703320"/>
            <a:ext cx="5394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7D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 a recording in, stack DSP operations into a recipe, and hear the result instantly. Every effect is implemented by hand from its signal-processing derivation.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731520" y="59436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7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Signals &amp; Systems course project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20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Audio Chef does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24128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columns, left to right — the same flow as CyberChef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42900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E1E5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965960"/>
            <a:ext cx="640080" cy="640080"/>
          </a:xfrm>
          <a:prstGeom prst="ellipse">
            <a:avLst/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2980" y="2125980"/>
            <a:ext cx="320040" cy="3200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00200" y="201168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0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Operations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788920"/>
            <a:ext cx="2880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B2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operations in 6 groups: Clean up, Tone &amp; level, Space, Time &amp; pitch, Voice, Edit. Searchable; drag any one out.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4041648" y="2811780"/>
            <a:ext cx="283464" cy="274320"/>
          </a:xfrm>
          <a:prstGeom prst="rightArrow">
            <a:avLst/>
          </a:prstGeom>
          <a:solidFill>
            <a:srgbClr val="2BB3A6"/>
          </a:solidFill>
          <a:ln w="12700">
            <a:solidFill>
              <a:srgbClr val="2BB3A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389120" y="1691640"/>
            <a:ext cx="342900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E1E5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663440" y="1965960"/>
            <a:ext cx="640080" cy="640080"/>
          </a:xfrm>
          <a:prstGeom prst="ellipse">
            <a:avLst/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3460" y="2125980"/>
            <a:ext cx="320040" cy="32004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5440680" y="201168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0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Recipe</a:t>
            </a:r>
            <a:endParaRPr lang="en-US" sz="2200" dirty="0"/>
          </a:p>
        </p:txBody>
      </p:sp>
      <p:sp>
        <p:nvSpPr>
          <p:cNvPr id="14" name="Text 10"/>
          <p:cNvSpPr txBox="1"/>
          <p:nvPr/>
        </p:nvSpPr>
        <p:spPr>
          <a:xfrm>
            <a:off x="4663440" y="2788920"/>
            <a:ext cx="2880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B2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Cards run strictly top to bottom. Each has its own sliders, quick-setting chips and a bypass switch. Reorder by dragging.</a:t>
            </a:r>
            <a:endParaRPr lang="en-US" sz="1350" dirty="0"/>
          </a:p>
        </p:txBody>
      </p:sp>
      <p:sp>
        <p:nvSpPr>
          <p:cNvPr id="15" name="Shape 11"/>
          <p:cNvSpPr/>
          <p:nvPr/>
        </p:nvSpPr>
        <p:spPr>
          <a:xfrm>
            <a:off x="7882128" y="2811780"/>
            <a:ext cx="283464" cy="274320"/>
          </a:xfrm>
          <a:prstGeom prst="rightArrow">
            <a:avLst/>
          </a:prstGeom>
          <a:solidFill>
            <a:srgbClr val="2BB3A6"/>
          </a:solidFill>
          <a:ln w="12700">
            <a:solidFill>
              <a:srgbClr val="2BB3A6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8229600" y="1691640"/>
            <a:ext cx="342900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E1E5EA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8503920" y="1965960"/>
            <a:ext cx="640080" cy="640080"/>
          </a:xfrm>
          <a:prstGeom prst="ellipse">
            <a:avLst/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63940" y="2125980"/>
            <a:ext cx="320040" cy="32004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9281160" y="201168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0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Output</a:t>
            </a:r>
            <a:endParaRPr lang="en-US" sz="2200" dirty="0"/>
          </a:p>
        </p:txBody>
      </p:sp>
      <p:sp>
        <p:nvSpPr>
          <p:cNvPr id="20" name="Text 15"/>
          <p:cNvSpPr txBox="1"/>
          <p:nvPr/>
        </p:nvSpPr>
        <p:spPr>
          <a:xfrm>
            <a:off x="8503920" y="2788920"/>
            <a:ext cx="2880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B2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and Output waveforms with spectrograms, A/B switch, Listen Stats, Signal Doctor and Export WAV.</a:t>
            </a:r>
            <a:endParaRPr lang="en-US" sz="1350" dirty="0"/>
          </a:p>
        </p:txBody>
      </p:sp>
      <p:sp>
        <p:nvSpPr>
          <p:cNvPr id="21" name="Text 16"/>
          <p:cNvSpPr txBox="1"/>
          <p:nvPr/>
        </p:nvSpPr>
        <p:spPr>
          <a:xfrm>
            <a:off x="548640" y="4572000"/>
            <a:ext cx="25678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B874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4000" dirty="0"/>
          </a:p>
        </p:txBody>
      </p:sp>
      <p:sp>
        <p:nvSpPr>
          <p:cNvPr id="22" name="Text 17"/>
          <p:cNvSpPr txBox="1"/>
          <p:nvPr/>
        </p:nvSpPr>
        <p:spPr>
          <a:xfrm>
            <a:off x="548640" y="5349240"/>
            <a:ext cx="24764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DSP libraries — numpy FFTs + our own coefficients</a:t>
            </a:r>
            <a:endParaRPr lang="en-US" sz="1250" dirty="0"/>
          </a:p>
        </p:txBody>
      </p:sp>
      <p:sp>
        <p:nvSpPr>
          <p:cNvPr id="23" name="Text 18"/>
          <p:cNvSpPr txBox="1"/>
          <p:nvPr/>
        </p:nvSpPr>
        <p:spPr>
          <a:xfrm>
            <a:off x="3390824" y="4572000"/>
            <a:ext cx="25678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B874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300 ms</a:t>
            </a:r>
            <a:endParaRPr lang="en-US" sz="4000" dirty="0"/>
          </a:p>
        </p:txBody>
      </p:sp>
      <p:sp>
        <p:nvSpPr>
          <p:cNvPr id="24" name="Text 19"/>
          <p:cNvSpPr txBox="1"/>
          <p:nvPr/>
        </p:nvSpPr>
        <p:spPr>
          <a:xfrm>
            <a:off x="3390824" y="5349240"/>
            <a:ext cx="24764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Auto-Bake: any change re-processes the audio</a:t>
            </a:r>
            <a:endParaRPr lang="en-US" sz="1250" dirty="0"/>
          </a:p>
        </p:txBody>
      </p:sp>
      <p:sp>
        <p:nvSpPr>
          <p:cNvPr id="25" name="Text 20"/>
          <p:cNvSpPr txBox="1"/>
          <p:nvPr/>
        </p:nvSpPr>
        <p:spPr>
          <a:xfrm>
            <a:off x="6233008" y="4572000"/>
            <a:ext cx="25678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B874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9+</a:t>
            </a:r>
            <a:endParaRPr lang="en-US" sz="4000" dirty="0"/>
          </a:p>
        </p:txBody>
      </p:sp>
      <p:sp>
        <p:nvSpPr>
          <p:cNvPr id="26" name="Text 21"/>
          <p:cNvSpPr txBox="1"/>
          <p:nvPr/>
        </p:nvSpPr>
        <p:spPr>
          <a:xfrm>
            <a:off x="6233008" y="5349240"/>
            <a:ext cx="24764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formats (WAV, MP3, FLAC, OGG…) or the mic</a:t>
            </a:r>
            <a:endParaRPr lang="en-US" sz="1250" dirty="0"/>
          </a:p>
        </p:txBody>
      </p:sp>
      <p:sp>
        <p:nvSpPr>
          <p:cNvPr id="27" name="Text 22"/>
          <p:cNvSpPr txBox="1"/>
          <p:nvPr/>
        </p:nvSpPr>
        <p:spPr>
          <a:xfrm>
            <a:off x="9075191" y="4572000"/>
            <a:ext cx="25678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B874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16-bit</a:t>
            </a:r>
            <a:endParaRPr lang="en-US" sz="4000" dirty="0"/>
          </a:p>
        </p:txBody>
      </p:sp>
      <p:sp>
        <p:nvSpPr>
          <p:cNvPr id="28" name="Text 23"/>
          <p:cNvSpPr txBox="1"/>
          <p:nvPr/>
        </p:nvSpPr>
        <p:spPr>
          <a:xfrm>
            <a:off x="9075191" y="5349240"/>
            <a:ext cx="24764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PCM WAV out, turned down rather than clipped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20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a bake works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2412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front end → FastAPI back end → one fold over the recipe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02920" cy="502920"/>
          </a:xfrm>
          <a:prstGeom prst="ellipse">
            <a:avLst/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645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215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609344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0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Upload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938528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2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/upload decodes any libsndfile format and folds it to mono → file_id.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578608"/>
            <a:ext cx="502920" cy="502920"/>
          </a:xfrm>
          <a:prstGeom prst="ellipse">
            <a:avLst/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257860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215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2542032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0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Recipe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2871216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2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slider change waits 300 ms, cancels the previous request, sends the recipe.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3511296"/>
            <a:ext cx="502920" cy="502920"/>
          </a:xfrm>
          <a:prstGeom prst="ellipse">
            <a:avLst/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51129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215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1234440" y="3474720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0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Fold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3803904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2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run_recipe(): each un-bypassed op in order; params clamped to the schema.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4443984"/>
            <a:ext cx="502920" cy="502920"/>
          </a:xfrm>
          <a:prstGeom prst="ellipse">
            <a:avLst/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444398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215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1234440" y="4407408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0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Fit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1234440" y="4736592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2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Peak over 1? The whole buffer is scaled to 0.98 — linear, no distortion.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48640" y="5376672"/>
            <a:ext cx="502920" cy="502920"/>
          </a:xfrm>
          <a:prstGeom prst="ellipse">
            <a:avLst/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48640" y="53766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215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1234440" y="5340096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0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Return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1234440" y="566928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2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16-bit WAV + X-Bake-Stats (input vs output measurements) + X-Bake-Id.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400800" y="1481328"/>
            <a:ext cx="5242255" cy="4919472"/>
          </a:xfrm>
          <a:prstGeom prst="roundRect">
            <a:avLst>
              <a:gd name="adj" fmla="val 1859"/>
            </a:avLst>
          </a:prstGeom>
          <a:solidFill>
            <a:srgbClr val="12151C"/>
          </a:solidFill>
          <a:ln w="12700">
            <a:solidFill>
              <a:srgbClr val="12151C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675120" y="1682496"/>
            <a:ext cx="46936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/PROCESS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6675120" y="2011680"/>
            <a:ext cx="469361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7DE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7DE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"file_id": "a79ed5b5f9...",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7DE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"recipe": [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7DE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{"op": "equalizer", "bypass": false,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7DE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"params": {"mid_gain": 6.0}},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7DE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{"op": "reverb", "bypass": false,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7DE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"params": {"mix": 30}}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7DE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]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7DE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675120" y="4251960"/>
            <a:ext cx="46936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BB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SCHEMA DRIVES THE UI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6675120" y="4572000"/>
            <a:ext cx="4693615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OPERATIONS in dsp_engine.py is served by GET /operations; every slider is rendered from it.</a:t>
            </a:r>
            <a:endParaRPr lang="en-US" sz="12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params use the default; out-of-range values are clamped, not rejected.</a:t>
            </a:r>
            <a:endParaRPr lang="en-US" sz="1250" dirty="0"/>
          </a:p>
          <a:p>
            <a:pPr marL="177800" indent="-177800"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Defaults are deliberately audible: dropping any card in changes the sound.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713232" cy="713232"/>
          </a:xfrm>
          <a:prstGeom prst="ellipse">
            <a:avLst/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948" y="589788"/>
            <a:ext cx="356616" cy="35661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463040" y="38404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0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STFT core</a:t>
            </a:r>
            <a:endParaRPr lang="en-US" sz="3200" dirty="0"/>
          </a:p>
        </p:txBody>
      </p:sp>
      <p:sp>
        <p:nvSpPr>
          <p:cNvPr id="5" name="Text 2"/>
          <p:cNvSpPr txBox="1"/>
          <p:nvPr/>
        </p:nvSpPr>
        <p:spPr>
          <a:xfrm>
            <a:off x="1463040" y="932688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shared engine behind every frequency-domain effect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11030407" y="502920"/>
            <a:ext cx="612648" cy="310896"/>
          </a:xfrm>
          <a:prstGeom prst="roundRect">
            <a:avLst>
              <a:gd name="adj" fmla="val 50000"/>
            </a:avLst>
          </a:prstGeom>
          <a:solidFill>
            <a:srgbClr val="1B7F76"/>
          </a:solidFill>
          <a:ln w="12700">
            <a:solidFill>
              <a:srgbClr val="1B7F7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1030407" y="502920"/>
            <a:ext cx="6126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1002975" y="635508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1572768"/>
            <a:ext cx="5257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874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IS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1847088"/>
            <a:ext cx="5257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Short-Time Fourier Transform and its inverse, hand-written with np.fft.rfft / irfft. Noise removal, speed &amp; pitch, the phase vocoder, voice match and the spectrogram all sit on top of it.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2734056"/>
            <a:ext cx="5257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874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3008376"/>
            <a:ext cx="52578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B2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 the signal into 2048-sample frames every 512 samples (75 % overlap) and weight each with a periodic Hann window.</a:t>
            </a:r>
            <a:endParaRPr lang="en-US" sz="12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B2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rfft each frame → a time × frequency grid of complex values (≈21.5 Hz per bin at 44.1 kHz).</a:t>
            </a:r>
            <a:endParaRPr lang="en-US" sz="12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B2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effect edits magnitude and/or phase; ISTFT windows again and overlap-adds (WOLA).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438912" y="4480560"/>
            <a:ext cx="5477256" cy="1865376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9525">
            <a:solidFill>
              <a:srgbClr val="E1E5E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40080" y="4590288"/>
            <a:ext cx="5257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B7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USE IT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640080" y="4864608"/>
            <a:ext cx="5074920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rgbClr val="1B2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to drag in — it runs inside every spectral card.</a:t>
            </a:r>
            <a:endParaRPr lang="en-US" sz="1200" dirty="0"/>
          </a:p>
          <a:p>
            <a:pPr marL="203200" indent="-2032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rgbClr val="1B2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the file edges: the divisor floor makes them fade in rather than click.</a:t>
            </a:r>
            <a:endParaRPr lang="en-US" sz="1200" dirty="0"/>
          </a:p>
          <a:p>
            <a:pPr marL="203200" indent="-2032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rgbClr val="1B2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spectrogram under each waveform is this same STFT, drawn instead of modified.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6172200" y="1481328"/>
            <a:ext cx="5470855" cy="4919472"/>
          </a:xfrm>
          <a:prstGeom prst="roundRect">
            <a:avLst>
              <a:gd name="adj" fmla="val 1859"/>
            </a:avLst>
          </a:prstGeom>
          <a:solidFill>
            <a:srgbClr val="12151C"/>
          </a:solidFill>
          <a:ln w="12700">
            <a:solidFill>
              <a:srgbClr val="12151C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46520" y="1682496"/>
            <a:ext cx="49222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 ALGORITHM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446520" y="1984248"/>
            <a:ext cx="4922215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X[t,k] = Σn x[n+tH]·w[n]·e^(−j2πkn/N)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w[n]   = ½(1 − cos(2πn/N))   periodic Hann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WOLA:  y_t = irfft(Y[t])·w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x̂[m] = Σt y_t[m−tH] / Σt w²[m−tH]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COLA:  Σt w²[m−tH] = 1.5   when H = N/4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unmodified spectrum returns x exactly</a:t>
            </a:r>
            <a:endParaRPr lang="en-US" sz="1250" dirty="0"/>
          </a:p>
        </p:txBody>
      </p:sp>
      <p:sp>
        <p:nvSpPr>
          <p:cNvPr id="19" name="Text 16"/>
          <p:cNvSpPr txBox="1"/>
          <p:nvPr/>
        </p:nvSpPr>
        <p:spPr>
          <a:xfrm>
            <a:off x="6446520" y="4453128"/>
            <a:ext cx="49222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BB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· STFT.PY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6446520" y="4745736"/>
            <a:ext cx="4922215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D7DE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frames = np.fft.irfft(spec, n=n_fft, axis=1)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7DE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frames = frames * window[None, :]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7DE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t in range(n_frames):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7DE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out[t*hop : t*hop+n_fft] += frames[t]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7DE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wsum[t*hop : t*hop+n_fft] += window ** 2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7DE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edges: floor the divisor, or they click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7DE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floor = 0.5 * np.median(wsum[wsum &gt; 0])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7DE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 = out / np.maximum(wsum, floor)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713232" cy="713232"/>
          </a:xfrm>
          <a:prstGeom prst="ellipse">
            <a:avLst/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948" y="589788"/>
            <a:ext cx="356616" cy="35661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463040" y="38404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0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Noise Remover</a:t>
            </a:r>
            <a:endParaRPr lang="en-US" sz="3200" dirty="0"/>
          </a:p>
        </p:txBody>
      </p:sp>
      <p:sp>
        <p:nvSpPr>
          <p:cNvPr id="5" name="Text 2"/>
          <p:cNvSpPr txBox="1"/>
          <p:nvPr/>
        </p:nvSpPr>
        <p:spPr>
          <a:xfrm>
            <a:off x="1463040" y="932688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Removes steady background hiss, hum and fan noise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10874959" y="502920"/>
            <a:ext cx="768096" cy="310896"/>
          </a:xfrm>
          <a:prstGeom prst="roundRect">
            <a:avLst>
              <a:gd name="adj" fmla="val 50000"/>
            </a:avLst>
          </a:prstGeom>
          <a:solidFill>
            <a:srgbClr val="1B7F76"/>
          </a:solidFill>
          <a:ln w="12700">
            <a:solidFill>
              <a:srgbClr val="1B7F7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0874959" y="502920"/>
            <a:ext cx="7680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UP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1002975" y="635508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1572768"/>
            <a:ext cx="5257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874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IS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1847088"/>
            <a:ext cx="5257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Steady noise sits at about the same level in every frequency band all the time; speech comes and goes. Measure the noise per band, then turn each band down by that much in every frame.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2734056"/>
            <a:ext cx="5257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874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3008376"/>
            <a:ext cx="52578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B2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Noise profile per bin: the 10th percentile over time (auto), or the mean of a region you mark.</a:t>
            </a:r>
            <a:endParaRPr lang="en-US" sz="12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B2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Over-subtract with a spectral floor, written as a gain G between β and 1.</a:t>
            </a:r>
            <a:endParaRPr lang="en-US" sz="12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B2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Smooth G over 3 frames to kill “musical noise”, apply it to the complex STFT (noisy phase kept).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438912" y="4480560"/>
            <a:ext cx="5477256" cy="1865376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9525">
            <a:solidFill>
              <a:srgbClr val="E1E5E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40080" y="4590288"/>
            <a:ext cx="5257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B7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USE IT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640080" y="4864608"/>
            <a:ext cx="5074920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rgbClr val="1B2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Drag Noise Remover into the recipe (quick chips: Subtle / Strong / Extreme).</a:t>
            </a:r>
            <a:endParaRPr lang="en-US" sz="1200" dirty="0"/>
          </a:p>
          <a:p>
            <a:pPr marL="203200" indent="-2032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rgbClr val="1B2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 (α) 1–4×; Advanced → “Leave a little behind” is the floor β.</a:t>
            </a:r>
            <a:endParaRPr lang="en-US" sz="1200" dirty="0"/>
          </a:p>
          <a:p>
            <a:pPr marL="203200" indent="-2032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rgbClr val="1B2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the noise → “From a part I mark”, then drag the amber region over a noise-only stretch.</a:t>
            </a:r>
            <a:endParaRPr lang="en-US" sz="1200" dirty="0"/>
          </a:p>
          <a:p>
            <a:pPr marL="203200" indent="-2032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rgbClr val="1B2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the spectrogram: the grey haze between words goes dark.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6172200" y="1481328"/>
            <a:ext cx="5470855" cy="4919472"/>
          </a:xfrm>
          <a:prstGeom prst="roundRect">
            <a:avLst>
              <a:gd name="adj" fmla="val 1859"/>
            </a:avLst>
          </a:prstGeom>
          <a:solidFill>
            <a:srgbClr val="12151C"/>
          </a:solidFill>
          <a:ln w="12700">
            <a:solidFill>
              <a:srgbClr val="12151C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46520" y="1682496"/>
            <a:ext cx="49222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 ALGORITHM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446520" y="1984248"/>
            <a:ext cx="4922215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Model:  X[t,k] = S[t,k] + D[t,k]      (Boll 1979)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auto:   N̂[k] = 2.73 · P10_t |X[t,k]|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(Rayleigh: mean / P10 = 1.253 / 0.459)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|Ŝ| = max(|X| − α·N̂[k],  β·|X|)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   = |Ŝ| / |X|,   G̃ = mean(G[t−1..t+1])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Ŝ[t,k] = G̃[t,k] · X[t,k]  →  ISTFT</a:t>
            </a:r>
            <a:endParaRPr lang="en-US" sz="1250" dirty="0"/>
          </a:p>
        </p:txBody>
      </p:sp>
      <p:sp>
        <p:nvSpPr>
          <p:cNvPr id="19" name="Text 16"/>
          <p:cNvSpPr txBox="1"/>
          <p:nvPr/>
        </p:nvSpPr>
        <p:spPr>
          <a:xfrm>
            <a:off x="6446520" y="4453128"/>
            <a:ext cx="49222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BB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· NOISE.PY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6446520" y="4745736"/>
            <a:ext cx="4922215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D7DE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p10 = np.percentile(mag, 10, axis=0)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7DE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noise = p10 * _RAYLEIGH_MEAN_OVER_P10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7DE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clean = np.maximum(mag - amount * noise[None, :],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7DE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floor * mag)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7DE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gain = clean / np.maximum(mag, EPS)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7DE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gain = np.maximum(smooth_over_time(gain), floor)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7DE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 istft(gain * spec, ...)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713232" cy="713232"/>
          </a:xfrm>
          <a:prstGeom prst="ellipse">
            <a:avLst/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948" y="589788"/>
            <a:ext cx="356616" cy="35661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463040" y="38404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0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De-clip</a:t>
            </a:r>
            <a:endParaRPr lang="en-US" sz="3200" dirty="0"/>
          </a:p>
        </p:txBody>
      </p:sp>
      <p:sp>
        <p:nvSpPr>
          <p:cNvPr id="5" name="Text 2"/>
          <p:cNvSpPr txBox="1"/>
          <p:nvPr/>
        </p:nvSpPr>
        <p:spPr>
          <a:xfrm>
            <a:off x="1463040" y="932688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Redraws peaks that were sliced flat by recording too loud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10874959" y="502920"/>
            <a:ext cx="768096" cy="310896"/>
          </a:xfrm>
          <a:prstGeom prst="roundRect">
            <a:avLst>
              <a:gd name="adj" fmla="val 50000"/>
            </a:avLst>
          </a:prstGeom>
          <a:solidFill>
            <a:srgbClr val="1B7F76"/>
          </a:solidFill>
          <a:ln w="12700">
            <a:solidFill>
              <a:srgbClr val="1B7F7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0874959" y="502920"/>
            <a:ext cx="7680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UP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1002975" y="635508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1572768"/>
            <a:ext cx="5257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874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IS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1847088"/>
            <a:ext cx="5257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recording was too loud, its peaks were cut flat at the converter's limit. De-clip finds each flat top and redraws it as a smooth curve that continues the slopes going in and coming out.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2734056"/>
            <a:ext cx="5257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874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3008376"/>
            <a:ext cx="52578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B2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run = consecutive samples at ≥ thresh × peak, all one sign, at least 3 long (a real wave touches its max for one sample).</a:t>
            </a:r>
            <a:endParaRPr lang="en-US" sz="12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B2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 a cubic Hermite curve through the good neighbours, matching value and slope at both ends.</a:t>
            </a:r>
            <a:endParaRPr lang="en-US" sz="12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B2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draw below the clip level; the final fit-to-full-scale turns the file down if the new peaks exceed 1.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438912" y="4480560"/>
            <a:ext cx="5477256" cy="1865376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9525">
            <a:solidFill>
              <a:srgbClr val="E1E5E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40080" y="4590288"/>
            <a:ext cx="5257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B7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USE IT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640080" y="4864608"/>
            <a:ext cx="5074920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rgbClr val="1B2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Drag De-clip in; one control, “Clip level” (80–100 % of the file's peak).</a:t>
            </a:r>
            <a:endParaRPr lang="en-US" sz="1200" dirty="0"/>
          </a:p>
          <a:p>
            <a:pPr marL="203200" indent="-2032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rgbClr val="1B2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 Doctor adds it automatically when it sees flat tops near full scale.</a:t>
            </a:r>
            <a:endParaRPr lang="en-US" sz="1200" dirty="0"/>
          </a:p>
          <a:p>
            <a:pPr marL="203200" indent="-2032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rgbClr val="1B2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to the loudest words: harsh crackle softens.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6172200" y="1481328"/>
            <a:ext cx="5470855" cy="4919472"/>
          </a:xfrm>
          <a:prstGeom prst="roundRect">
            <a:avLst>
              <a:gd name="adj" fmla="val 1859"/>
            </a:avLst>
          </a:prstGeom>
          <a:solidFill>
            <a:srgbClr val="12151C"/>
          </a:solidFill>
          <a:ln w="12700">
            <a:solidFill>
              <a:srgbClr val="12151C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46520" y="1682496"/>
            <a:ext cx="49222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 ALGORITHM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446520" y="1984248"/>
            <a:ext cx="4922215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p0 = x[a−1]   m0 = x[a−1] − x[a−2]   (in)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p1 = x[b]     m1 = x[b+1] − x[b]     (out)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  = b − (a−1),   t = (n − (a−1)) / L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p(t) = h00·p0 + h10·L·m0 + h01·p1 + h11·L·m1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h00 = 2t³−3t²+1     h10 = t³−2t²+t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h01 = −2t³+3t²      h11 = t³−t²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|y| = max(|p(t)|, level)</a:t>
            </a:r>
            <a:endParaRPr lang="en-US" sz="1250" dirty="0"/>
          </a:p>
        </p:txBody>
      </p:sp>
      <p:sp>
        <p:nvSpPr>
          <p:cNvPr id="19" name="Text 16"/>
          <p:cNvSpPr txBox="1"/>
          <p:nvPr/>
        </p:nvSpPr>
        <p:spPr>
          <a:xfrm>
            <a:off x="6446520" y="4453128"/>
            <a:ext cx="49222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BB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· DECLIP.PY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6446520" y="4745736"/>
            <a:ext cx="4922215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D7DE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 = (np.arange(a, b) - (a - 1)) / span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7DE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curve = ((2*t3 - 3*t2 + 1) * p0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7DE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+ (t3 - 2*t2 + t) * span * m0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7DE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+ (-2*t3 + 3*t2) * p1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7DE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+ (t3 - t2) * span * m1)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7DE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y[a:b] = sign * np.maximum(np.abs(curve), level)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713232" cy="713232"/>
          </a:xfrm>
          <a:prstGeom prst="ellipse">
            <a:avLst/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948" y="589788"/>
            <a:ext cx="356616" cy="35661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463040" y="38404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0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Silence Remover</a:t>
            </a:r>
            <a:endParaRPr lang="en-US" sz="3200" dirty="0"/>
          </a:p>
        </p:txBody>
      </p:sp>
      <p:sp>
        <p:nvSpPr>
          <p:cNvPr id="5" name="Text 2"/>
          <p:cNvSpPr txBox="1"/>
          <p:nvPr/>
        </p:nvSpPr>
        <p:spPr>
          <a:xfrm>
            <a:off x="1463040" y="932688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Cuts the long pauses out, leaving a short breath in each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10874959" y="502920"/>
            <a:ext cx="768096" cy="310896"/>
          </a:xfrm>
          <a:prstGeom prst="roundRect">
            <a:avLst>
              <a:gd name="adj" fmla="val 50000"/>
            </a:avLst>
          </a:prstGeom>
          <a:solidFill>
            <a:srgbClr val="1B7F76"/>
          </a:solidFill>
          <a:ln w="12700">
            <a:solidFill>
              <a:srgbClr val="1B7F7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0874959" y="502920"/>
            <a:ext cx="7680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UP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1002975" y="635508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1572768"/>
            <a:ext cx="5257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874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IS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1847088"/>
            <a:ext cx="5257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Finds every stretch quieter than a threshold that lasts long enough to be a real pause (not the gap between syllables) and shortens it.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2734056"/>
            <a:ext cx="5257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874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3008376"/>
            <a:ext cx="52578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B2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 the file every 10 ms by the RMS of a 20 ms window — every window from one prefix sum, O(N) total.</a:t>
            </a:r>
            <a:endParaRPr lang="en-US" sz="12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B2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Silent hops below the threshold form runs; only runs ≥ “Longer than” are cut.</a:t>
            </a:r>
            <a:endParaRPr lang="en-US" sz="12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B2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cut keeps “Leave” seconds (half each side); every join gets the same 5 ms fade as Cut &amp; Trim.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438912" y="4480560"/>
            <a:ext cx="5477256" cy="1865376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9525">
            <a:solidFill>
              <a:srgbClr val="E1E5E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40080" y="4590288"/>
            <a:ext cx="5257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B7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USE IT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640080" y="4864608"/>
            <a:ext cx="5074920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rgbClr val="1B2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Drag Silence Remover in; quick chips Gentle / Tight / Jump cut.</a:t>
            </a:r>
            <a:endParaRPr lang="en-US" sz="1200" dirty="0"/>
          </a:p>
          <a:p>
            <a:pPr marL="203200" indent="-2032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rgbClr val="1B2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Quieter than (dB), Longer than (s), Leave (s).</a:t>
            </a:r>
            <a:endParaRPr lang="en-US" sz="1200" dirty="0"/>
          </a:p>
          <a:p>
            <a:pPr marL="203200" indent="-2032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rgbClr val="1B2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output waveform gets shorter; short gaps between words survive.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6172200" y="1481328"/>
            <a:ext cx="5470855" cy="4919472"/>
          </a:xfrm>
          <a:prstGeom prst="roundRect">
            <a:avLst>
              <a:gd name="adj" fmla="val 1859"/>
            </a:avLst>
          </a:prstGeom>
          <a:solidFill>
            <a:srgbClr val="12151C"/>
          </a:solidFill>
          <a:ln w="12700">
            <a:solidFill>
              <a:srgbClr val="12151C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46520" y="1682496"/>
            <a:ext cx="49222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 ALGORITHM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446520" y="1984248"/>
            <a:ext cx="4922215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S[m] = Σ_{n&lt;m} x[n]²               prefix sum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Σ_{n=a}^{b−1} x[n]² = S[b] − S[a]   O(1)/hop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P[k] = (1/W)(S[c+W/2] − S[c−W/2])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L[k] = 10·log10 P[k]   dBFS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silent[k] = L[k] &lt; threshold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cut run if (j − k)·H ≥ min_silence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removed = [kH + keep/2, jH − keep/2)</a:t>
            </a:r>
            <a:endParaRPr lang="en-US" sz="1250" dirty="0"/>
          </a:p>
        </p:txBody>
      </p:sp>
      <p:sp>
        <p:nvSpPr>
          <p:cNvPr id="19" name="Text 16"/>
          <p:cNvSpPr txBox="1"/>
          <p:nvPr/>
        </p:nvSpPr>
        <p:spPr>
          <a:xfrm>
            <a:off x="6446520" y="4453128"/>
            <a:ext cx="49222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BB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· SILENCE.PY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6446520" y="4745736"/>
            <a:ext cx="4922215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D7DE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prefix = np.concatenate([[0.0], np.cumsum(x * x)])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7DE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centres = np.arange(n_hops) * hop + hop // 2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7DE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= np.clip(centres - half, 0, x.size)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7DE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 = np.clip(centres + half, 0, x.size)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7DE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power = (prefix[b] - prefix[a]) / np.maximum(b - a, 1)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7DE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levels = 10.0 * np.log10(power)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713232" cy="713232"/>
          </a:xfrm>
          <a:prstGeom prst="ellipse">
            <a:avLst/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948" y="589788"/>
            <a:ext cx="356616" cy="35661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463040" y="38404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0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Level &amp; DC</a:t>
            </a:r>
            <a:endParaRPr lang="en-US" sz="3200" dirty="0"/>
          </a:p>
        </p:txBody>
      </p:sp>
      <p:sp>
        <p:nvSpPr>
          <p:cNvPr id="5" name="Text 2"/>
          <p:cNvSpPr txBox="1"/>
          <p:nvPr/>
        </p:nvSpPr>
        <p:spPr>
          <a:xfrm>
            <a:off x="1463040" y="932688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Re-centres the waveform on zero, then sets the loudness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10564063" y="502920"/>
            <a:ext cx="1078992" cy="310896"/>
          </a:xfrm>
          <a:prstGeom prst="roundRect">
            <a:avLst>
              <a:gd name="adj" fmla="val 50000"/>
            </a:avLst>
          </a:prstGeom>
          <a:solidFill>
            <a:srgbClr val="1B7F76"/>
          </a:solidFill>
          <a:ln w="12700">
            <a:solidFill>
              <a:srgbClr val="1B7F7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0564063" y="502920"/>
            <a:ext cx="10789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TONE &amp; LEVEL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1002975" y="635508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1572768"/>
            <a:ext cx="5257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874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IS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1847088"/>
            <a:ext cx="5257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Removes a DC offset (a waveform sitting above or below the zero line), then turns the whole file up or down so its loudest peak — or its average loudness — hits a target.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2734056"/>
            <a:ext cx="5257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874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3008376"/>
            <a:ext cx="52578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B2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Subtract the mean (constant offset), then a one-pole DC blocker catches a drifting one.</a:t>
            </a:r>
            <a:endParaRPr lang="en-US" sz="12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B2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Pole radius R puts the −3 dB corner at 10 Hz — below any musical content.</a:t>
            </a:r>
            <a:endParaRPr lang="en-US" sz="12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B2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Normalise with one scalar gain g: linear, so the sound is unchanged, only louder or quieter.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438912" y="4480560"/>
            <a:ext cx="5477256" cy="1865376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9525">
            <a:solidFill>
              <a:srgbClr val="E1E5E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40080" y="4590288"/>
            <a:ext cx="5257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B7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USE IT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640080" y="4864608"/>
            <a:ext cx="5074920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rgbClr val="1B2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Drag Level &amp; DC in; quick chips Peak −1 dB / Speech −18 dB / DC only.</a:t>
            </a:r>
            <a:endParaRPr lang="en-US" sz="1200" dirty="0"/>
          </a:p>
          <a:p>
            <a:pPr marL="203200" indent="-2032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rgbClr val="1B2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DC offset (on/off); Set level by: Loudest peak, Average (RMS) or Don't change.</a:t>
            </a:r>
            <a:endParaRPr lang="en-US" sz="1200" dirty="0"/>
          </a:p>
          <a:p>
            <a:pPr marL="203200" indent="-2032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rgbClr val="1B2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output waveform sits on the centre line and fills the panel.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6172200" y="1481328"/>
            <a:ext cx="5470855" cy="4919472"/>
          </a:xfrm>
          <a:prstGeom prst="roundRect">
            <a:avLst>
              <a:gd name="adj" fmla="val 1859"/>
            </a:avLst>
          </a:prstGeom>
          <a:solidFill>
            <a:srgbClr val="12151C"/>
          </a:solidFill>
          <a:ln w="12700">
            <a:solidFill>
              <a:srgbClr val="12151C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46520" y="1682496"/>
            <a:ext cx="49222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 ALGORITHM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446520" y="1984248"/>
            <a:ext cx="4922215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DC blocker:  y[n] = x[n] − x[n−1] + R·y[n−1]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H(z) = (1 − z⁻¹) / (1 − R·z⁻¹)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zero at z = 1 → DC removed completely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pole at z = R → |H| ≈ 1 elsewhere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 = 1 − 2π·fc/fs,   fc = 10 Hz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peak: g = 10^(T/20) / max|x|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RMS : g = 10^(T/20) / √mean(x²)</a:t>
            </a:r>
            <a:endParaRPr lang="en-US" sz="1250" dirty="0"/>
          </a:p>
        </p:txBody>
      </p:sp>
      <p:sp>
        <p:nvSpPr>
          <p:cNvPr id="19" name="Text 16"/>
          <p:cNvSpPr txBox="1"/>
          <p:nvPr/>
        </p:nvSpPr>
        <p:spPr>
          <a:xfrm>
            <a:off x="6446520" y="4453128"/>
            <a:ext cx="49222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BB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· LEVEL.PY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6446520" y="4745736"/>
            <a:ext cx="4922215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D7DE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centred = x - np.mean(x)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7DE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 = 1.0 - 2.0 * np.pi * fc / fs  # -3 dB at fc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7DE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 = [1.0, -1.0]   # 1 - z^-1   (zero at DC)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7DE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= [1.0, -r]     # 1 - R z^-1 (pole near z = 1)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7DE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 lfilter(b, a, centred)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713232" cy="713232"/>
          </a:xfrm>
          <a:prstGeom prst="ellipse">
            <a:avLst/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948" y="589788"/>
            <a:ext cx="356616" cy="35661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463040" y="38404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0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Equalizer</a:t>
            </a:r>
            <a:endParaRPr lang="en-US" sz="3200" dirty="0"/>
          </a:p>
        </p:txBody>
      </p:sp>
      <p:sp>
        <p:nvSpPr>
          <p:cNvPr id="5" name="Text 2"/>
          <p:cNvSpPr txBox="1"/>
          <p:nvPr/>
        </p:nvSpPr>
        <p:spPr>
          <a:xfrm>
            <a:off x="1463040" y="932688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Bass, mid and treble tone controls — three biquads in series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10564063" y="502920"/>
            <a:ext cx="1078992" cy="310896"/>
          </a:xfrm>
          <a:prstGeom prst="roundRect">
            <a:avLst>
              <a:gd name="adj" fmla="val 50000"/>
            </a:avLst>
          </a:prstGeom>
          <a:solidFill>
            <a:srgbClr val="1B7F76"/>
          </a:solidFill>
          <a:ln w="12700">
            <a:solidFill>
              <a:srgbClr val="1B7F7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0564063" y="502920"/>
            <a:ext cx="10789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TONE &amp; LEVEL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1002975" y="635508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1572768"/>
            <a:ext cx="5257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874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IS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1847088"/>
            <a:ext cx="5257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Like the Bass / Mid / Treble knobs on a stereo. Bass lifts or cuts everything below a corner, Treble everything above one, Mid a bell-shaped band around a centre.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2734056"/>
            <a:ext cx="5257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874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3008376"/>
            <a:ext cx="52578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B2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control is a biquad: a 2nd-order IIR filter using the last two inputs and outputs.</a:t>
            </a:r>
            <a:endParaRPr lang="en-US" sz="12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B2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Coefficients come from analog prototypes mapped by the bilinear transform (RBJ Audio EQ Cookbook).</a:t>
            </a:r>
            <a:endParaRPr lang="en-US" sz="12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B2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shelf → peaking bell → high shelf; scipy lfilter only runs the difference equation.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438912" y="4480560"/>
            <a:ext cx="5477256" cy="1865376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9525">
            <a:solidFill>
              <a:srgbClr val="E1E5E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40080" y="4590288"/>
            <a:ext cx="5257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B7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USE IT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640080" y="4864608"/>
            <a:ext cx="5074920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rgbClr val="1B2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Drag Equalizer in (default: +6 dB bass, +6 dB treble).</a:t>
            </a:r>
            <a:endParaRPr lang="en-US" sz="1200" dirty="0"/>
          </a:p>
          <a:p>
            <a:pPr marL="203200" indent="-2032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rgbClr val="1B2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chips Subtle / Strong / Extreme / Telephone.</a:t>
            </a:r>
            <a:endParaRPr lang="en-US" sz="1200" dirty="0"/>
          </a:p>
          <a:p>
            <a:pPr marL="203200" indent="-2032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rgbClr val="1B2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Advanced: bass corner, mid frequency, mid width Q, treble corner.</a:t>
            </a:r>
            <a:endParaRPr lang="en-US" sz="1200" dirty="0"/>
          </a:p>
          <a:p>
            <a:pPr marL="203200" indent="-2032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rgbClr val="1B2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the bottom or top band of the spectrogram brighten.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6172200" y="1481328"/>
            <a:ext cx="5470855" cy="4919472"/>
          </a:xfrm>
          <a:prstGeom prst="roundRect">
            <a:avLst>
              <a:gd name="adj" fmla="val 1859"/>
            </a:avLst>
          </a:prstGeom>
          <a:solidFill>
            <a:srgbClr val="12151C"/>
          </a:solidFill>
          <a:ln w="12700">
            <a:solidFill>
              <a:srgbClr val="12151C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46520" y="1682496"/>
            <a:ext cx="49222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 ALGORITHM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446520" y="1984248"/>
            <a:ext cx="4922215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y[n] = (b0x[n]+b1x[n−1]+b2x[n−2]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− a1y[n−1] − a2y[n−2]) / a0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= 10^(dB/40)  w0 = 2πf0/fs  α = sin w0/(2Q)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Peaking bell (Mid):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b0 = 1 + αA     a0 = 1 + α/A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b1 = −2cos w0   a1 = −2cos w0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b2 = 1 − αA     a2 = 1 − α/A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|H(w0)| = A² = gain;  |H| = 1 at DC, Nyquist</a:t>
            </a:r>
            <a:endParaRPr lang="en-US" sz="1250" dirty="0"/>
          </a:p>
        </p:txBody>
      </p:sp>
      <p:sp>
        <p:nvSpPr>
          <p:cNvPr id="19" name="Text 16"/>
          <p:cNvSpPr txBox="1"/>
          <p:nvPr/>
        </p:nvSpPr>
        <p:spPr>
          <a:xfrm>
            <a:off x="6446520" y="4864608"/>
            <a:ext cx="49222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BB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· EQ.PY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6446520" y="5157216"/>
            <a:ext cx="4922215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D7DE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= 10.0 ** (gain_db / 40.0)   # sqrt of linear gain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7DE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w0 = 2.0 * np.pi * f0 / fs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7DE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alpha = np.sin(w0) / (2.0 * q)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7DE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 = [1 + alpha*A, -2*np.cos(w0), 1 - alpha*A]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7DE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= [1 + alpha/A, -2*np.cos(w0), 1 - alpha/A]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7DE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 = lfilter(np.divide(b, a[0]), np.divide(a, a[0]), x)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713232" cy="713232"/>
          </a:xfrm>
          <a:prstGeom prst="ellipse">
            <a:avLst/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948" y="589788"/>
            <a:ext cx="356616" cy="35661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463040" y="38404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0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Filter</a:t>
            </a:r>
            <a:endParaRPr lang="en-US" sz="3200" dirty="0"/>
          </a:p>
        </p:txBody>
      </p:sp>
      <p:sp>
        <p:nvSpPr>
          <p:cNvPr id="5" name="Text 2"/>
          <p:cNvSpPr txBox="1"/>
          <p:nvPr/>
        </p:nvSpPr>
        <p:spPr>
          <a:xfrm>
            <a:off x="1463040" y="932688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Low-pass, high-pass, band-pass and notch — these remove, not tilt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10564063" y="502920"/>
            <a:ext cx="1078992" cy="310896"/>
          </a:xfrm>
          <a:prstGeom prst="roundRect">
            <a:avLst>
              <a:gd name="adj" fmla="val 50000"/>
            </a:avLst>
          </a:prstGeom>
          <a:solidFill>
            <a:srgbClr val="1B7F76"/>
          </a:solidFill>
          <a:ln w="12700">
            <a:solidFill>
              <a:srgbClr val="1B7F7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0564063" y="502920"/>
            <a:ext cx="10789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TONE &amp; LEVEL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1002975" y="635508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1572768"/>
            <a:ext cx="5257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874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IS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1847088"/>
            <a:ext cx="5257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Low-pass keeps what is below a cutoff (muffled, like through a wall); high-pass the mirror (thin, tinny); band-pass keeps one band (the telephone sound); notch removes one narrow band (mains hum).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2734056"/>
            <a:ext cx="5257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874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3008376"/>
            <a:ext cx="52578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B2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Analog prototype with its corner at 1 rad/s, mapped to z by the bilinear transform with pre-warping so the cutoff lands exactly.</a:t>
            </a:r>
            <a:endParaRPr lang="en-US" sz="12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B2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Low/high-pass: an order-N Butterworth = N/2 biquads in cascade (6N dB/octave), never one multiplied-out polynomial.</a:t>
            </a:r>
            <a:endParaRPr lang="en-US" sz="12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B2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Notch zeros sit on the unit circle at ±w0 → exactly −∞ dB at the centre.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438912" y="4663440"/>
            <a:ext cx="5477256" cy="1682496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9525">
            <a:solidFill>
              <a:srgbClr val="E1E5E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40080" y="4773168"/>
            <a:ext cx="5257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B7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USE IT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640080" y="5047488"/>
            <a:ext cx="50749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rgbClr val="1B2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Drag Filter in; Type, Frequency (log slider), Steepness 12–48 dB/oct or Width Q.</a:t>
            </a:r>
            <a:endParaRPr lang="en-US" sz="1200" dirty="0"/>
          </a:p>
          <a:p>
            <a:pPr marL="203200" indent="-2032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rgbClr val="1B2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chips: Muffled, Telephone, Thin, Rumble cut, Hum notch.</a:t>
            </a:r>
            <a:endParaRPr lang="en-US" sz="1200" dirty="0"/>
          </a:p>
          <a:p>
            <a:pPr marL="203200" indent="-2032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rgbClr val="1B2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Dashed cutoff lines appear on BOTH spectrograms — past them the Output goes dark.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6172200" y="1481328"/>
            <a:ext cx="5470855" cy="4919472"/>
          </a:xfrm>
          <a:prstGeom prst="roundRect">
            <a:avLst>
              <a:gd name="adj" fmla="val 1859"/>
            </a:avLst>
          </a:prstGeom>
          <a:solidFill>
            <a:srgbClr val="12151C"/>
          </a:solidFill>
          <a:ln w="12700">
            <a:solidFill>
              <a:srgbClr val="12151C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46520" y="1682496"/>
            <a:ext cx="49222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 ALGORITHM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446520" y="1984248"/>
            <a:ext cx="4922215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 = K(1 − z⁻¹)/(1 + z⁻¹),  K = 1/tan(w0/2)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 = cos w0,  α = sin w0 / (2Q)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b0        b1      b2       a0   a1  a2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LP   (1−c)/2   1−c   (1−c)/2   1+α  −2c 1−α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HP   (1+c)/2 −(1+c)  (1+c)/2   1+α  −2c 1−α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BP       α       0      −α     1+α  −2c 1−α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notch    1     −2c       1     1+α  −2c 1−α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Butterworth |H(jΩ)|² = 1/(1+Ω^2N)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θk = π(2k+1)/(2N),   Qk = 1/(2cos θk)</a:t>
            </a:r>
            <a:endParaRPr lang="en-US" sz="1150" dirty="0"/>
          </a:p>
        </p:txBody>
      </p:sp>
      <p:sp>
        <p:nvSpPr>
          <p:cNvPr id="19" name="Text 16"/>
          <p:cNvSpPr txBox="1"/>
          <p:nvPr/>
        </p:nvSpPr>
        <p:spPr>
          <a:xfrm>
            <a:off x="6446520" y="4864608"/>
            <a:ext cx="49222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BB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· FILTERS.PY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6446520" y="5157216"/>
            <a:ext cx="4922215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D7DE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qs = [1.0 / (2.0 * np.cos(np.pi*(2*k+1)/(2*order)))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7DE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for k in range(order // 2)]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7DE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b, a in sections:        # one biquad each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7DE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y = lfilter(b, a, y)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713232" cy="713232"/>
          </a:xfrm>
          <a:prstGeom prst="ellipse">
            <a:avLst/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948" y="589788"/>
            <a:ext cx="356616" cy="35661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463040" y="38404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0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Compressor</a:t>
            </a:r>
            <a:endParaRPr lang="en-US" sz="3200" dirty="0"/>
          </a:p>
        </p:txBody>
      </p:sp>
      <p:sp>
        <p:nvSpPr>
          <p:cNvPr id="5" name="Text 2"/>
          <p:cNvSpPr txBox="1"/>
          <p:nvPr/>
        </p:nvSpPr>
        <p:spPr>
          <a:xfrm>
            <a:off x="1463040" y="932688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automatic volume knob: loud parts down, quiet parts up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10564063" y="502920"/>
            <a:ext cx="1078992" cy="310896"/>
          </a:xfrm>
          <a:prstGeom prst="roundRect">
            <a:avLst>
              <a:gd name="adj" fmla="val 50000"/>
            </a:avLst>
          </a:prstGeom>
          <a:solidFill>
            <a:srgbClr val="1B7F76"/>
          </a:solidFill>
          <a:ln w="12700">
            <a:solidFill>
              <a:srgbClr val="1B7F7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0564063" y="502920"/>
            <a:ext cx="10789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TONE &amp; LEVEL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1002975" y="635508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1572768"/>
            <a:ext cx="5257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874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IS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1847088"/>
            <a:ext cx="5257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Watches how loud the audio has recently been; above the threshold it turns the audio down, more the further over. Auto-makeup then lifts everything so the loudest peak is back where it started.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2734056"/>
            <a:ext cx="5257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874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3008376"/>
            <a:ext cx="52578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B2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Envelope follower: a one-pole low-pass on the level, with separate attack and release coefficients.</a:t>
            </a:r>
            <a:endParaRPr lang="en-US" sz="12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B2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Lookahead: the detector sees the peak of the next 3 attack times, so onsets never overshoot.</a:t>
            </a:r>
            <a:endParaRPr lang="en-US" sz="12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B2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gain curve in dB with a soft knee; auto-makeup = the reduction at the input's own peak.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438912" y="4480560"/>
            <a:ext cx="5477256" cy="1865376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9525">
            <a:solidFill>
              <a:srgbClr val="E1E5E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40080" y="4590288"/>
            <a:ext cx="5257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B7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USE IT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640080" y="4864608"/>
            <a:ext cx="5074920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rgbClr val="1B2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Drag Compressor in; quick chips Subtle / Strong / Extreme.</a:t>
            </a:r>
            <a:endParaRPr lang="en-US" sz="1200" dirty="0"/>
          </a:p>
          <a:p>
            <a:pPr marL="203200" indent="-2032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rgbClr val="1B2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squashing at (threshold, dB), Squash ratio (:1), Auto-makeup.</a:t>
            </a:r>
            <a:endParaRPr lang="en-US" sz="1200" dirty="0"/>
          </a:p>
          <a:p>
            <a:pPr marL="203200" indent="-2032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rgbClr val="1B2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Advanced: attack, release, knee, extra gain.</a:t>
            </a:r>
            <a:endParaRPr lang="en-US" sz="1200" dirty="0"/>
          </a:p>
          <a:p>
            <a:pPr marL="203200" indent="-2032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rgbClr val="1B2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waveform turns from spiky into a solid block; crest factor drops in Listen Stats.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6172200" y="1481328"/>
            <a:ext cx="5470855" cy="4919472"/>
          </a:xfrm>
          <a:prstGeom prst="roundRect">
            <a:avLst>
              <a:gd name="adj" fmla="val 1859"/>
            </a:avLst>
          </a:prstGeom>
          <a:solidFill>
            <a:srgbClr val="12151C"/>
          </a:solidFill>
          <a:ln w="12700">
            <a:solidFill>
              <a:srgbClr val="12151C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46520" y="1682496"/>
            <a:ext cx="49222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 ALGORITHM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446520" y="1984248"/>
            <a:ext cx="4922215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env[n] = a·env[n−1] + (1−a)·|x[n]|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= exp(−1/(τ·fs))    τ = attack | release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over = L − T      (L = 20log10 env)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hard: gain = −(1 − 1/R)·over,   over &gt; 0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knee: gain = −(1−1/R)(over + W/2)² / (2W)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for |over| &lt; W/2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g[n] = 10^((gain + makeup)/20),  y = g·x</a:t>
            </a:r>
            <a:endParaRPr lang="en-US" sz="1250" dirty="0"/>
          </a:p>
        </p:txBody>
      </p:sp>
      <p:sp>
        <p:nvSpPr>
          <p:cNvPr id="19" name="Text 16"/>
          <p:cNvSpPr txBox="1"/>
          <p:nvPr/>
        </p:nvSpPr>
        <p:spPr>
          <a:xfrm>
            <a:off x="6446520" y="4453128"/>
            <a:ext cx="49222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BB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· COMPRESSOR.PY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6446520" y="4745736"/>
            <a:ext cx="4922215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D7DE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over = level_db - threshold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7DE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slope = 1.0 - 1.0 / ratio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7DE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in_knee = (over &gt; -knee/2) &amp; (over &lt; knee/2)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7DE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above = over &gt;= knee / 2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7DE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gain_db[in_knee] = -slope * (over[in_knee]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7DE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+ knee/2)**2 / (2*knee)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7DE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gain_db[above] = -slope * over[above]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713232" cy="713232"/>
          </a:xfrm>
          <a:prstGeom prst="ellipse">
            <a:avLst/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948" y="589788"/>
            <a:ext cx="356616" cy="35661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463040" y="38404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0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Echo</a:t>
            </a:r>
            <a:endParaRPr lang="en-US" sz="3200" dirty="0"/>
          </a:p>
        </p:txBody>
      </p:sp>
      <p:sp>
        <p:nvSpPr>
          <p:cNvPr id="5" name="Text 2"/>
          <p:cNvSpPr txBox="1"/>
          <p:nvPr/>
        </p:nvSpPr>
        <p:spPr>
          <a:xfrm>
            <a:off x="1463040" y="932688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Distinct repeats, like shouting across a canyon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11108131" y="502920"/>
            <a:ext cx="534924" cy="310896"/>
          </a:xfrm>
          <a:prstGeom prst="roundRect">
            <a:avLst>
              <a:gd name="adj" fmla="val 50000"/>
            </a:avLst>
          </a:prstGeom>
          <a:solidFill>
            <a:srgbClr val="1B7F76"/>
          </a:solidFill>
          <a:ln w="12700">
            <a:solidFill>
              <a:srgbClr val="1B7F7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1108131" y="502920"/>
            <a:ext cx="5349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SPACE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1002975" y="635508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1572768"/>
            <a:ext cx="5257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874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IS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1847088"/>
            <a:ext cx="5257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Copies of the sound come back after a fixed delay, each quieter than the last. Delay is the gap between copies; Repeats is how much of each copy survives into the next.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2734056"/>
            <a:ext cx="5257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874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3008376"/>
            <a:ext cx="52578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B2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textbook feedback comb, unrolled into its impulse response: taps at every D samples, gains gᵏ.</a:t>
            </a:r>
            <a:endParaRPr lang="en-US" sz="12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B2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Applied as one FFT convolution; zero-padded so circular = linear convolution.</a:t>
            </a:r>
            <a:endParaRPr lang="en-US" sz="12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B2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 truncated once taps are 240 dB down — equal to the recursion to float precision (tested).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438912" y="4480560"/>
            <a:ext cx="5477256" cy="1865376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9525">
            <a:solidFill>
              <a:srgbClr val="E1E5E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40080" y="4590288"/>
            <a:ext cx="5257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B7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USE IT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640080" y="4864608"/>
            <a:ext cx="5074920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rgbClr val="1B2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Drag Echo in; quick chips Slapback / Canyon / Endless.</a:t>
            </a:r>
            <a:endParaRPr lang="en-US" sz="1200" dirty="0"/>
          </a:p>
          <a:p>
            <a:pPr marL="203200" indent="-2032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rgbClr val="1B2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Delay (s), Repeats (%, max 95), Wet (%).</a:t>
            </a:r>
            <a:endParaRPr lang="en-US" sz="1200" dirty="0"/>
          </a:p>
          <a:p>
            <a:pPr marL="203200" indent="-2032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rgbClr val="1B2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waveform shows smaller copies trailing each burst.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6172200" y="1481328"/>
            <a:ext cx="5470855" cy="4919472"/>
          </a:xfrm>
          <a:prstGeom prst="roundRect">
            <a:avLst>
              <a:gd name="adj" fmla="val 1859"/>
            </a:avLst>
          </a:prstGeom>
          <a:solidFill>
            <a:srgbClr val="12151C"/>
          </a:solidFill>
          <a:ln w="12700">
            <a:solidFill>
              <a:srgbClr val="12151C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46520" y="1682496"/>
            <a:ext cx="49222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 ALGORITHM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446520" y="1984248"/>
            <a:ext cx="4922215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y[n] = x[n] + g·y[n − D]     D = delay·fs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= Σk gᵏ·x[n − kD]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h[kD] = gᵏ,  0 elsewhere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H(z) = 1 / (1 − g·z⁻ᴰ)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stop when gᵏ &lt; 10^(−240/20)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 = (1 − m)·x + m·(x ∗ h)</a:t>
            </a:r>
            <a:endParaRPr lang="en-US" sz="1250" dirty="0"/>
          </a:p>
        </p:txBody>
      </p:sp>
      <p:sp>
        <p:nvSpPr>
          <p:cNvPr id="19" name="Text 16"/>
          <p:cNvSpPr txBox="1"/>
          <p:nvPr/>
        </p:nvSpPr>
        <p:spPr>
          <a:xfrm>
            <a:off x="6446520" y="4453128"/>
            <a:ext cx="49222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BB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· ECHO_REVERB.PY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6446520" y="4745736"/>
            <a:ext cx="4922215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D7DE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taps = int(np.floor(np.log(10.0 ** (-_TAIL_DB/20.0))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7DE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/ np.log(g))) + 1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7DE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length = min(max_len, (taps - 1) * delay + 1)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7DE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 = np.zeros(length)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7DE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index = np.arange(0, length, delay)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7DE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h[index] = g ** np.arange(index.size)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713232" cy="713232"/>
          </a:xfrm>
          <a:prstGeom prst="ellipse">
            <a:avLst/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948" y="589788"/>
            <a:ext cx="356616" cy="35661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463040" y="38404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0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Reverb</a:t>
            </a:r>
            <a:endParaRPr lang="en-US" sz="3200" dirty="0"/>
          </a:p>
        </p:txBody>
      </p:sp>
      <p:sp>
        <p:nvSpPr>
          <p:cNvPr id="5" name="Text 2"/>
          <p:cNvSpPr txBox="1"/>
          <p:nvPr/>
        </p:nvSpPr>
        <p:spPr>
          <a:xfrm>
            <a:off x="1463040" y="932688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Puts the sound in a room, from a small booth to a cathedral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11108131" y="502920"/>
            <a:ext cx="534924" cy="310896"/>
          </a:xfrm>
          <a:prstGeom prst="roundRect">
            <a:avLst>
              <a:gd name="adj" fmla="val 50000"/>
            </a:avLst>
          </a:prstGeom>
          <a:solidFill>
            <a:srgbClr val="1B7F76"/>
          </a:solidFill>
          <a:ln w="12700">
            <a:solidFill>
              <a:srgbClr val="1B7F7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1108131" y="502920"/>
            <a:ext cx="5349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SPACE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1002975" y="635508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1572768"/>
            <a:ext cx="5257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874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IS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1847088"/>
            <a:ext cx="5257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Thousands of reflections arrive so close together they blur into one smooth tail. Instead of a recorded room, the impulse response is synthesised and convolved with the input.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2734056"/>
            <a:ext cx="5257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874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3008376"/>
            <a:ext cx="52578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B2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Pre-delay, then early reflections at mutually prime delays — their spacing reads as room size.</a:t>
            </a:r>
            <a:endParaRPr lang="en-US" sz="12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B2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Diffuse tail: Gaussian noise under an exponential envelope that falls 60 dB in RT60 seconds.</a:t>
            </a:r>
            <a:endParaRPr lang="en-US" sz="12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B2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frequencies damped with a spectral tilt; IR normalised to unit energy so loudness stays put.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438912" y="4480560"/>
            <a:ext cx="5477256" cy="1865376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9525">
            <a:solidFill>
              <a:srgbClr val="E1E5E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40080" y="4590288"/>
            <a:ext cx="5257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B7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USE IT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640080" y="4864608"/>
            <a:ext cx="5074920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rgbClr val="1B2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Drag Reverb in; quick chips Small room / Hall / Cathedral.</a:t>
            </a:r>
            <a:endParaRPr lang="en-US" sz="1200" dirty="0"/>
          </a:p>
          <a:p>
            <a:pPr marL="203200" indent="-2032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rgbClr val="1B2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Room size (%), Tail length (RT60, s), Wet (%).</a:t>
            </a:r>
            <a:endParaRPr lang="en-US" sz="1200" dirty="0"/>
          </a:p>
          <a:p>
            <a:pPr marL="203200" indent="-2032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rgbClr val="1B2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spectrogram the harmonic stripes smear to the right instead of stopping.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6172200" y="1481328"/>
            <a:ext cx="5470855" cy="4919472"/>
          </a:xfrm>
          <a:prstGeom prst="roundRect">
            <a:avLst>
              <a:gd name="adj" fmla="val 1859"/>
            </a:avLst>
          </a:prstGeom>
          <a:solidFill>
            <a:srgbClr val="12151C"/>
          </a:solidFill>
          <a:ln w="12700">
            <a:solidFill>
              <a:srgbClr val="12151C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46520" y="1682496"/>
            <a:ext cx="49222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 ALGORITHM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446520" y="1984248"/>
            <a:ext cx="4922215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 = [pre-delay | early taps | noise tail]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env[n] = 10^(−3n / (RT60·fs))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(−60 dB = amplitude ×10⁻³ at n = RT60·fs)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|H(f)| *= 1 − 0.6·f / f_Nyq   (absorption)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Σ h² = 1   → output power = input (Parseval)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 = (1 − m)·x + m·(x ∗ h)</a:t>
            </a:r>
            <a:endParaRPr lang="en-US" sz="1250" dirty="0"/>
          </a:p>
        </p:txBody>
      </p:sp>
      <p:sp>
        <p:nvSpPr>
          <p:cNvPr id="19" name="Text 16"/>
          <p:cNvSpPr txBox="1"/>
          <p:nvPr/>
        </p:nvSpPr>
        <p:spPr>
          <a:xfrm>
            <a:off x="6446520" y="4453128"/>
            <a:ext cx="49222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BB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· ECHO_REVERB.PY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6446520" y="4745736"/>
            <a:ext cx="4922215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D7DE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envelope = 10.0 ** (-3.0 * n / (rt60 * fs))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7DE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 = rng.standard_normal(length) * envelope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7DE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h[:pre] = 0.0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7DE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h[pre:pre+build] *= np.linspace(0, 1, build)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7DE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order, ms in enumerate(_EARLY_MS):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7DE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tap = int(round(ms * scale * fs / 1000))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7DE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h[tap] += _EARLY_GAIN**(order+1) * envelope[tap]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713232" cy="713232"/>
          </a:xfrm>
          <a:prstGeom prst="ellipse">
            <a:avLst/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948" y="589788"/>
            <a:ext cx="356616" cy="35661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463040" y="38404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0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Speed &amp; Pitch</a:t>
            </a:r>
            <a:endParaRPr lang="en-US" sz="3200" dirty="0"/>
          </a:p>
        </p:txBody>
      </p:sp>
      <p:sp>
        <p:nvSpPr>
          <p:cNvPr id="5" name="Text 2"/>
          <p:cNvSpPr txBox="1"/>
          <p:nvPr/>
        </p:nvSpPr>
        <p:spPr>
          <a:xfrm>
            <a:off x="1463040" y="932688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how fast it plays and how high it sounds — separately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10564063" y="502920"/>
            <a:ext cx="1078992" cy="310896"/>
          </a:xfrm>
          <a:prstGeom prst="roundRect">
            <a:avLst>
              <a:gd name="adj" fmla="val 50000"/>
            </a:avLst>
          </a:prstGeom>
          <a:solidFill>
            <a:srgbClr val="1B7F76"/>
          </a:solidFill>
          <a:ln w="12700">
            <a:solidFill>
              <a:srgbClr val="1B7F7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0564063" y="502920"/>
            <a:ext cx="10789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&amp; PITCH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1002975" y="635508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1572768"/>
            <a:ext cx="5257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874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IS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1847088"/>
            <a:ext cx="5257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tape, speed and pitch move together. Two hand-made building blocks decouple them: resampling (the tape effect) and a phase-vocoder time stretch (length without pitch).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2734056"/>
            <a:ext cx="5257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874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3008376"/>
            <a:ext cx="52578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B2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Resample: read the input at fractional positions m·s with linear interpolation — duration and pitch both change.</a:t>
            </a:r>
            <a:endParaRPr lang="en-US" sz="12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B2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Stretch: resynthesise STFT frames at a new hop H_s and advance each peak's phase by its true frequency × H_s; other bins are locked to their peak.</a:t>
            </a:r>
            <a:endParaRPr lang="en-US" sz="12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B2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Pitch shift = stretch by r, then resample by r (same length, pitch × r).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438912" y="4754880"/>
            <a:ext cx="5477256" cy="1591056"/>
          </a:xfrm>
          <a:prstGeom prst="roundRect">
            <a:avLst>
              <a:gd name="adj" fmla="val 4598"/>
            </a:avLst>
          </a:prstGeom>
          <a:solidFill>
            <a:srgbClr val="FFFFFF"/>
          </a:solidFill>
          <a:ln w="9525">
            <a:solidFill>
              <a:srgbClr val="E1E5E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40080" y="4864608"/>
            <a:ext cx="5257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B7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USE IT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640080" y="5138928"/>
            <a:ext cx="5074920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rgbClr val="1B2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Drag Speed &amp; Pitch in; quick chips Slow-mo / Fast talk / Tape speed-up / Octave down.</a:t>
            </a:r>
            <a:endParaRPr lang="en-US" sz="1200" dirty="0"/>
          </a:p>
          <a:p>
            <a:pPr marL="203200" indent="-2032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rgbClr val="1B2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 (×), Keep pitch (on = podcast 1.5×, off = tape), Pitch (semitones).</a:t>
            </a:r>
            <a:endParaRPr lang="en-US" sz="1200" dirty="0"/>
          </a:p>
          <a:p>
            <a:pPr marL="203200" indent="-2032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rgbClr val="1B2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output waveform is shorter or longer than the input.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6172200" y="1481328"/>
            <a:ext cx="5470855" cy="4919472"/>
          </a:xfrm>
          <a:prstGeom prst="roundRect">
            <a:avLst>
              <a:gd name="adj" fmla="val 1859"/>
            </a:avLst>
          </a:prstGeom>
          <a:solidFill>
            <a:srgbClr val="12151C"/>
          </a:solidFill>
          <a:ln w="12700">
            <a:solidFill>
              <a:srgbClr val="12151C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46520" y="1682496"/>
            <a:ext cx="49222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 ALGORITHM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446520" y="1984248"/>
            <a:ext cx="4922215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resample: y[m] = (1−f)·x[i] + f·x[i+1]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vocoder: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dev = princarg(φ[t,k] − φ[t−1,k] − 2πkHa/N)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ω[t,k] = (2πkHa/N + dev) / Ha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ψ[t,k] = ψ[t−1,k] + ω[t,k]·Hs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Y = |X|·e^(jψ)  →  ISTFT with hop Hs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pitch: r = 2^(st/12);  stretch r, resample r</a:t>
            </a:r>
            <a:endParaRPr lang="en-US" sz="1250" dirty="0"/>
          </a:p>
        </p:txBody>
      </p:sp>
      <p:sp>
        <p:nvSpPr>
          <p:cNvPr id="19" name="Text 16"/>
          <p:cNvSpPr txBox="1"/>
          <p:nvPr/>
        </p:nvSpPr>
        <p:spPr>
          <a:xfrm>
            <a:off x="6446520" y="4453128"/>
            <a:ext cx="49222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BB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· SPEED_PITCH.PY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6446520" y="4745736"/>
            <a:ext cx="4922215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D7DE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ratio = 2.0 ** (semitones / 12.0)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7DE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stretched = time_stretch(x, rate=ratio)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7DE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shifted = resample(stretched, speed=ratio)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7DE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resample(x, speed):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7DE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positions = np.arange(n_out) * speed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7DE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np.interp(positions, np.arange(x.size), x)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713232" cy="713232"/>
          </a:xfrm>
          <a:prstGeom prst="ellipse">
            <a:avLst/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948" y="589788"/>
            <a:ext cx="356616" cy="35661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463040" y="38404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0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Phase Vocoder</a:t>
            </a:r>
            <a:endParaRPr lang="en-US" sz="3200" dirty="0"/>
          </a:p>
        </p:txBody>
      </p:sp>
      <p:sp>
        <p:nvSpPr>
          <p:cNvPr id="5" name="Text 2"/>
          <p:cNvSpPr txBox="1"/>
          <p:nvPr/>
        </p:nvSpPr>
        <p:spPr>
          <a:xfrm>
            <a:off x="1463040" y="932688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Chipmunk, monster, robot, whisper — the same magnitudes, a new phase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11108131" y="502920"/>
            <a:ext cx="534924" cy="310896"/>
          </a:xfrm>
          <a:prstGeom prst="roundRect">
            <a:avLst>
              <a:gd name="adj" fmla="val 50000"/>
            </a:avLst>
          </a:prstGeom>
          <a:solidFill>
            <a:srgbClr val="1B7F76"/>
          </a:solidFill>
          <a:ln w="12700">
            <a:solidFill>
              <a:srgbClr val="1B7F7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1108131" y="502920"/>
            <a:ext cx="5349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1002975" y="635508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1572768"/>
            <a:ext cx="5257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874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IS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1847088"/>
            <a:ext cx="5257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how loud each frequency is in each frame (that carries the words), rebuild with a different phase (that carries the pitch). Op id is still voice_changer so old recipes bake.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2734056"/>
            <a:ext cx="5257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874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3008376"/>
            <a:ext cx="52578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B2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Chipmunk / monster: move each spectral lobe rigidly to round(p·r), advance its phase at r × its true frequency.</a:t>
            </a:r>
            <a:endParaRPr lang="en-US" sz="12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B2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Robot: every bin gets the phase of a pulse at the frame centre → a pulse train at fs/H, one monotone buzz.</a:t>
            </a:r>
            <a:endParaRPr lang="en-US" sz="12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B2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Whisper: uniform random phase — same energy, nothing periodic: breath instead of voice.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438912" y="4663440"/>
            <a:ext cx="5477256" cy="1682496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9525">
            <a:solidFill>
              <a:srgbClr val="E1E5E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40080" y="4773168"/>
            <a:ext cx="5257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B7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USE IT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640080" y="5047488"/>
            <a:ext cx="50749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rgbClr val="1B2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Drag Phase Vocoder in; choose Voice (quick chips Chipmunk, Robot, …).</a:t>
            </a:r>
            <a:endParaRPr lang="en-US" sz="1200" dirty="0"/>
          </a:p>
          <a:p>
            <a:pPr marL="203200" indent="-2032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rgbClr val="1B2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far (1–12 st) for chipmunk/monster; Robot buzz (40–300 Hz).</a:t>
            </a:r>
            <a:endParaRPr lang="en-US" sz="1200" dirty="0"/>
          </a:p>
          <a:p>
            <a:pPr marL="203200" indent="-2032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rgbClr val="1B2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Spectrogram: stripes move up/down, snap to even lines (robot) or dissolve (whisper).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6172200" y="1481328"/>
            <a:ext cx="5470855" cy="4919472"/>
          </a:xfrm>
          <a:prstGeom prst="roundRect">
            <a:avLst>
              <a:gd name="adj" fmla="val 1859"/>
            </a:avLst>
          </a:prstGeom>
          <a:solidFill>
            <a:srgbClr val="12151C"/>
          </a:solidFill>
          <a:ln w="12700">
            <a:solidFill>
              <a:srgbClr val="12151C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46520" y="1682496"/>
            <a:ext cx="49222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 ALGORITHM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446520" y="1984248"/>
            <a:ext cx="4922215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pitch:  r = 2^(st/12)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shift(p) = round(p·r) − p     per lobe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ψ[t,p'] = ψ[t−1,p'] + r·ω[t,p]·H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ψ[t,k'] = ψ[t,p'] + (φ[t,k] − φ[t,p])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robot:  Y = |X|·(−1)ᵏ    pulse at n = N/2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H = round(fs / f_robot)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whisper: Y = |X|·e^(jθ),  θ ~ U(−π, π]</a:t>
            </a:r>
            <a:endParaRPr lang="en-US" sz="1250" dirty="0"/>
          </a:p>
        </p:txBody>
      </p:sp>
      <p:sp>
        <p:nvSpPr>
          <p:cNvPr id="19" name="Text 16"/>
          <p:cNvSpPr txBox="1"/>
          <p:nvPr/>
        </p:nvSpPr>
        <p:spPr>
          <a:xfrm>
            <a:off x="6446520" y="4453128"/>
            <a:ext cx="49222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BB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· VOICE_CHANGER.PY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6446520" y="4745736"/>
            <a:ext cx="4922215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D7DE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hop = int(round(fs / robot_freq))  # H = fs/f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7DE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mag = np.abs(stft(x, n_fft, hop))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7DE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 = np.arange(mag.shape[1])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7DE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centre = np.where(k % 2 == 0, 1.0, -1.0)  # (-1)^k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7DE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 istft(mag * centre[None, :], hop=hop, ...)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713232" cy="713232"/>
          </a:xfrm>
          <a:prstGeom prst="ellipse">
            <a:avLst/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948" y="589788"/>
            <a:ext cx="356616" cy="35661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463040" y="38404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0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Celebrity caricatures</a:t>
            </a:r>
            <a:endParaRPr lang="en-US" sz="3200" dirty="0"/>
          </a:p>
        </p:txBody>
      </p:sp>
      <p:sp>
        <p:nvSpPr>
          <p:cNvPr id="5" name="Text 2"/>
          <p:cNvSpPr txBox="1"/>
          <p:nvPr/>
        </p:nvSpPr>
        <p:spPr>
          <a:xfrm>
            <a:off x="1463040" y="932688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Pitch and formants moved separately — loose impressions, not clones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11108131" y="502920"/>
            <a:ext cx="534924" cy="310896"/>
          </a:xfrm>
          <a:prstGeom prst="roundRect">
            <a:avLst>
              <a:gd name="adj" fmla="val 50000"/>
            </a:avLst>
          </a:prstGeom>
          <a:solidFill>
            <a:srgbClr val="1B7F76"/>
          </a:solidFill>
          <a:ln w="12700">
            <a:solidFill>
              <a:srgbClr val="1B7F7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1108131" y="502920"/>
            <a:ext cx="5349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1002975" y="635508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1572768"/>
            <a:ext cx="5257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874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IS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1847088"/>
            <a:ext cx="5257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Modes of the Phase Vocoder card (Ronaldo, Messi, Trump). Each preset is four numbers — pitch, formant (throat size), tempo, rasp — plus an optional EQ bell.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2734056"/>
            <a:ext cx="5257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874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3008376"/>
            <a:ext cx="52578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B2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Shift harmonics by r, then re-analyse: the shifted STFT is not consistent, so measure what the output really contains.</a:t>
            </a:r>
            <a:endParaRPr lang="en-US" sz="12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B2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Cepstral envelopes (peak-picked at f0) of input and shifted; target = input envelope stretched by the formant ratio a.</a:t>
            </a:r>
            <a:endParaRPr lang="en-US" sz="12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B2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 by the dB difference, rescale every frame to its input energy; add jitter + breath for rasp, then tempo.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438912" y="4754880"/>
            <a:ext cx="5477256" cy="1591056"/>
          </a:xfrm>
          <a:prstGeom prst="roundRect">
            <a:avLst>
              <a:gd name="adj" fmla="val 4598"/>
            </a:avLst>
          </a:prstGeom>
          <a:solidFill>
            <a:srgbClr val="FFFFFF"/>
          </a:solidFill>
          <a:ln w="9525">
            <a:solidFill>
              <a:srgbClr val="E1E5E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40080" y="4864608"/>
            <a:ext cx="5257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B7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USE IT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640080" y="5138928"/>
            <a:ext cx="5074920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rgbClr val="1B2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Drag Phase Vocoder in and pick a celebrity mode (quick chips Ronaldo / Messi / Trump).</a:t>
            </a:r>
            <a:endParaRPr lang="en-US" sz="1200" dirty="0"/>
          </a:p>
          <a:p>
            <a:pPr marL="203200" indent="-2032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rgbClr val="1B2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Wet (Advanced) blends with the original before the tempo change.</a:t>
            </a:r>
            <a:endParaRPr lang="en-US" sz="1200" dirty="0"/>
          </a:p>
          <a:p>
            <a:pPr marL="203200" indent="-2032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rgbClr val="1B2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own words, rhythm and accent stay — for real resemblance use Voice Match.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6172200" y="1481328"/>
            <a:ext cx="5470855" cy="4919472"/>
          </a:xfrm>
          <a:prstGeom prst="roundRect">
            <a:avLst>
              <a:gd name="adj" fmla="val 1859"/>
            </a:avLst>
          </a:prstGeom>
          <a:solidFill>
            <a:srgbClr val="12151C"/>
          </a:solidFill>
          <a:ln w="12700">
            <a:solidFill>
              <a:srgbClr val="12151C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46520" y="1682496"/>
            <a:ext cx="49222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 ALGORITHM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446520" y="1984248"/>
            <a:ext cx="4922215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 = 2^(st/12)   pitch ratio (harmonics)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= formant ratio (envelope)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    = STFT(ISTFT(shift_spectrum(X, r)))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E_in = env(|X|),  E_sh = env(|S|)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E_tg[t,f] = E_in[t, f/a]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 = S · 10^((E_tg − E_sh)/20)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Σf|Y|² = Σf|X|²   per frame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= r → chipmunk;   a = 1 → pure pitch</a:t>
            </a:r>
            <a:endParaRPr lang="en-US" sz="1250" dirty="0"/>
          </a:p>
        </p:txBody>
      </p:sp>
      <p:sp>
        <p:nvSpPr>
          <p:cNvPr id="19" name="Text 16"/>
          <p:cNvSpPr txBox="1"/>
          <p:nvPr/>
        </p:nvSpPr>
        <p:spPr>
          <a:xfrm>
            <a:off x="6446520" y="4453128"/>
            <a:ext cx="49222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BB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· CARICATURE.PY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6446520" y="4745736"/>
            <a:ext cx="4922215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D7DE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"ronaldo": Caricature("Ronaldo (caricature)",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7DE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semitones=2.0, formant=1.05, tempo=1.1,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7DE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grit=0.15, bell_hz=3000.0, bell_db=3.0),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7DE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"trump": Caricature("Trump (caricature)",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7DE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semitones=-3.0, formant=0.93, tempo=0.9,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7DE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grit=0.45, bell_hz=1200.0, bell_db=5.0),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713232" cy="713232"/>
          </a:xfrm>
          <a:prstGeom prst="ellipse">
            <a:avLst/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948" y="589788"/>
            <a:ext cx="356616" cy="35661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463040" y="38404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0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Voice Match</a:t>
            </a:r>
            <a:endParaRPr lang="en-US" sz="3200" dirty="0"/>
          </a:p>
        </p:txBody>
      </p:sp>
      <p:sp>
        <p:nvSpPr>
          <p:cNvPr id="5" name="Text 2"/>
          <p:cNvSpPr txBox="1"/>
          <p:nvPr/>
        </p:nvSpPr>
        <p:spPr>
          <a:xfrm>
            <a:off x="1463040" y="932688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your voice toward another speaker's, learned from one shared script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11108131" y="502920"/>
            <a:ext cx="534924" cy="310896"/>
          </a:xfrm>
          <a:prstGeom prst="roundRect">
            <a:avLst>
              <a:gd name="adj" fmla="val 50000"/>
            </a:avLst>
          </a:prstGeom>
          <a:solidFill>
            <a:srgbClr val="1B7F76"/>
          </a:solidFill>
          <a:ln w="12700">
            <a:solidFill>
              <a:srgbClr val="1B7F7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1108131" y="502920"/>
            <a:ext cx="5349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1002975" y="635508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1572768"/>
            <a:ext cx="5257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874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IS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1847088"/>
            <a:ext cx="5257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and the target each read the same script once. The two readings are aligned in time; from that pairing the card learns how to move your pitch range and vowel colour toward theirs.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2734056"/>
            <a:ext cx="5257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874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3008376"/>
            <a:ext cx="52578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B2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every 10 ms: autocorrelation pitch, voicing, a 32-point cepstral envelope.</a:t>
            </a:r>
            <a:endParaRPr lang="en-US" sz="12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B2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DTW aligns the two readings; each paired voiced frame stores the dB envelope difference (a codebook).</a:t>
            </a:r>
            <a:endParaRPr lang="en-US" sz="12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B2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log-f0 Gaussian → Gaussian; time-varying phase-locked pitch shift; envelope correction from the 8 nearest codebook entries.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438912" y="4754880"/>
            <a:ext cx="5477256" cy="1591056"/>
          </a:xfrm>
          <a:prstGeom prst="roundRect">
            <a:avLst>
              <a:gd name="adj" fmla="val 4598"/>
            </a:avLst>
          </a:prstGeom>
          <a:solidFill>
            <a:srgbClr val="FFFFFF"/>
          </a:solidFill>
          <a:ln w="9525">
            <a:solidFill>
              <a:srgbClr val="E1E5E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40080" y="4864608"/>
            <a:ext cx="5257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B7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USE IT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640080" y="5138928"/>
            <a:ext cx="5074920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rgbClr val="1B2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three files: your calibration, their calibration, and the take to convert.</a:t>
            </a:r>
            <a:endParaRPr lang="en-US" sz="1200" dirty="0"/>
          </a:p>
          <a:p>
            <a:pPr marL="203200" indent="-2032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rgbClr val="1B2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take, drag Voice Match in and pick Your calibration / Their calibration.</a:t>
            </a:r>
            <a:endParaRPr lang="en-US" sz="1200" dirty="0"/>
          </a:p>
          <a:p>
            <a:pPr marL="203200" indent="-2032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rgbClr val="1B2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Pitch (%) and Timbre (%) strengths; quick chips Pitch only / Timbre only / Full.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6172200" y="1481328"/>
            <a:ext cx="5470855" cy="4919472"/>
          </a:xfrm>
          <a:prstGeom prst="roundRect">
            <a:avLst>
              <a:gd name="adj" fmla="val 1859"/>
            </a:avLst>
          </a:prstGeom>
          <a:solidFill>
            <a:srgbClr val="12151C"/>
          </a:solidFill>
          <a:ln w="12700">
            <a:solidFill>
              <a:srgbClr val="12151C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46520" y="1682496"/>
            <a:ext cx="49222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 ALGORITHM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446520" y="1984248"/>
            <a:ext cx="492221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r(τ) = Σ s[n]s[n+τ] / √(E0(τ)·E1(τ))   pitch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DTW: D(i,j) = c(i,j) + min(D(i−1,j−1),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D(i−1,j−2)+c(i,j−1), D(i−2,j−1)+c(i−1,j))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l̃ = μb + (σb/σa)(ln f0 − μa)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ρ[t] = s_p(l̃ − ln f0),   r[t] = e^ρ[t]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k-NN: Δ̂ = Σ wn·Δn / Σ wn,  wn = 1/(dn + ε)</a:t>
            </a:r>
            <a:endParaRPr lang="en-US" sz="1150" dirty="0"/>
          </a:p>
        </p:txBody>
      </p:sp>
      <p:sp>
        <p:nvSpPr>
          <p:cNvPr id="19" name="Text 16"/>
          <p:cNvSpPr txBox="1"/>
          <p:nvPr/>
        </p:nvSpPr>
        <p:spPr>
          <a:xfrm>
            <a:off x="6446520" y="4498848"/>
            <a:ext cx="49222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BB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NOTES · VOICE_MATCH.PY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6446520" y="4791456"/>
            <a:ext cx="4922215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D7DE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Both strengths 0 → exact bypass (np.array_equal).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7DE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Unvoiced frames &amp; silence are left alone.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7DE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Profiles cached per (cal, ref) hash: moving a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7DE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slider does not re-run DTW.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713232" cy="713232"/>
          </a:xfrm>
          <a:prstGeom prst="ellipse">
            <a:avLst/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948" y="589788"/>
            <a:ext cx="356616" cy="35661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463040" y="38404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0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Cut &amp; Trim · Reverse</a:t>
            </a:r>
            <a:endParaRPr lang="en-US" sz="3200" dirty="0"/>
          </a:p>
        </p:txBody>
      </p:sp>
      <p:sp>
        <p:nvSpPr>
          <p:cNvPr id="5" name="Text 2"/>
          <p:cNvSpPr txBox="1"/>
          <p:nvPr/>
        </p:nvSpPr>
        <p:spPr>
          <a:xfrm>
            <a:off x="1463040" y="932688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a part, cut a part out, or play it backwards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11185855" y="502920"/>
            <a:ext cx="457200" cy="310896"/>
          </a:xfrm>
          <a:prstGeom prst="roundRect">
            <a:avLst>
              <a:gd name="adj" fmla="val 50000"/>
            </a:avLst>
          </a:prstGeom>
          <a:solidFill>
            <a:srgbClr val="1B7F76"/>
          </a:solidFill>
          <a:ln w="12700">
            <a:solidFill>
              <a:srgbClr val="1B7F7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1185855" y="502920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1002975" y="635508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1572768"/>
            <a:ext cx="5257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874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IS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1847088"/>
            <a:ext cx="5257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editing cards. Cut &amp; Trim keeps only the selection or removes it and joins the two sides. Reverse plays the whole clip — or only a part — backwards.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2734056"/>
            <a:ext cx="5257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874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3008376"/>
            <a:ext cx="52578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B2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Pure numpy slicing and concatenation in the time domain.</a:t>
            </a:r>
            <a:endParaRPr lang="en-US" sz="12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B2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5 ms linear fade at every new boundary removes the step that would otherwise click.</a:t>
            </a:r>
            <a:endParaRPr lang="en-US" sz="12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B2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Reversal keeps the magnitude spectrum and flips the phase: same notes, decays become swells.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438912" y="4480560"/>
            <a:ext cx="5477256" cy="1865376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9525">
            <a:solidFill>
              <a:srgbClr val="E1E5E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40080" y="4590288"/>
            <a:ext cx="5257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B7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USE IT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640080" y="4864608"/>
            <a:ext cx="5074920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rgbClr val="1B2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Drag Cut &amp; Trim in; Action = Keep the selection / Cut it out.</a:t>
            </a:r>
            <a:endParaRPr lang="en-US" sz="1200" dirty="0"/>
          </a:p>
          <a:p>
            <a:pPr marL="203200" indent="-2032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rgbClr val="1B2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Drag the green region on the Input waveform (or type From / To; To = 0 means the end).</a:t>
            </a:r>
            <a:endParaRPr lang="en-US" sz="1200" dirty="0"/>
          </a:p>
          <a:p>
            <a:pPr marL="203200" indent="-2032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rgbClr val="1B2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Reverse: The whole clip, or Only a part via the violet region.</a:t>
            </a:r>
            <a:endParaRPr lang="en-US" sz="1200" dirty="0"/>
          </a:p>
          <a:p>
            <a:pPr marL="203200" indent="-2032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rgbClr val="1B2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 preview plays the span, or 2 s either side of a cut to hear the join.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6172200" y="1481328"/>
            <a:ext cx="5470855" cy="4919472"/>
          </a:xfrm>
          <a:prstGeom prst="roundRect">
            <a:avLst>
              <a:gd name="adj" fmla="val 1859"/>
            </a:avLst>
          </a:prstGeom>
          <a:solidFill>
            <a:srgbClr val="12151C"/>
          </a:solidFill>
          <a:ln w="12700">
            <a:solidFill>
              <a:srgbClr val="12151C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46520" y="1682496"/>
            <a:ext cx="49222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 ALGORITHM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446520" y="1984248"/>
            <a:ext cx="4922215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trim:    y = x[s : e]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splice:  y = concat(x[:s], x[e:])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reverse: y[n] = x[a + b − 1 − n],  a ≤ n &lt; b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time reversal:  X(e^jw) → X(e^−jw) = X*(e^jw)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|X| unchanged, phase negated</a:t>
            </a:r>
            <a:endParaRPr lang="en-US" sz="1250" dirty="0"/>
          </a:p>
        </p:txBody>
      </p:sp>
      <p:sp>
        <p:nvSpPr>
          <p:cNvPr id="19" name="Text 16"/>
          <p:cNvSpPr txBox="1"/>
          <p:nvPr/>
        </p:nvSpPr>
        <p:spPr>
          <a:xfrm>
            <a:off x="6446520" y="4453128"/>
            <a:ext cx="49222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BB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· EDITOR.PY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6446520" y="4745736"/>
            <a:ext cx="4922215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D7DE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splice(x, fs, start=0.0, end=0.0):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7DE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 = to_samples(start, fs, x.size)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7DE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 = to_samples(end, fs, x.size)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7DE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head = fade_edges(x[:a], fs, fade_in=False,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7DE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fade_out=True)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7DE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tail = fade_edges(x[b:], fs, fade_in=True,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7DE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fade_out=False)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7DE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np.concatenate([head, tail])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713232" cy="713232"/>
          </a:xfrm>
          <a:prstGeom prst="ellipse">
            <a:avLst/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948" y="589788"/>
            <a:ext cx="356616" cy="35661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463040" y="38404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0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Arrange timeline</a:t>
            </a:r>
            <a:endParaRPr lang="en-US" sz="3200" dirty="0"/>
          </a:p>
        </p:txBody>
      </p:sp>
      <p:sp>
        <p:nvSpPr>
          <p:cNvPr id="5" name="Text 2"/>
          <p:cNvSpPr txBox="1"/>
          <p:nvPr/>
        </p:nvSpPr>
        <p:spPr>
          <a:xfrm>
            <a:off x="1463040" y="932688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multitrack timeline — the mix is simply a sum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11185855" y="502920"/>
            <a:ext cx="457200" cy="310896"/>
          </a:xfrm>
          <a:prstGeom prst="roundRect">
            <a:avLst>
              <a:gd name="adj" fmla="val 50000"/>
            </a:avLst>
          </a:prstGeom>
          <a:solidFill>
            <a:srgbClr val="1B7F76"/>
          </a:solidFill>
          <a:ln w="12700">
            <a:solidFill>
              <a:srgbClr val="1B7F7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1185855" y="502920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1002975" y="635508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1572768"/>
            <a:ext cx="5257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874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IS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1847088"/>
            <a:ext cx="5257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Arrange tab holds blocks, each a piece of another tab's PROCESSED audio placed at a time with its own volume. The tab's audio is all blocks added together; its recipe then runs on that mix.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2734056"/>
            <a:ext cx="5257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874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3008376"/>
            <a:ext cx="52578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B2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block: source s, position t, span [u, v), gain g (dB); the span is cut with trim (5 ms fades).</a:t>
            </a:r>
            <a:endParaRPr lang="en-US" sz="12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B2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 resolve through a graph evaluator: memoised, and cycle-checked (a block pointing at its own tab is an error, not a hang).</a:t>
            </a:r>
            <a:endParaRPr lang="en-US" sz="12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B2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Overlaps over full scale are turned down as a whole — never clipped.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438912" y="4754880"/>
            <a:ext cx="5477256" cy="1591056"/>
          </a:xfrm>
          <a:prstGeom prst="roundRect">
            <a:avLst>
              <a:gd name="adj" fmla="val 4598"/>
            </a:avLst>
          </a:prstGeom>
          <a:solidFill>
            <a:srgbClr val="FFFFFF"/>
          </a:solidFill>
          <a:ln w="9525">
            <a:solidFill>
              <a:srgbClr val="E1E5E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40080" y="4864608"/>
            <a:ext cx="5257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B7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USE IT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640080" y="5138928"/>
            <a:ext cx="5074920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rgbClr val="1B2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an Arrange tab; drag file blocks onto lanes.</a:t>
            </a:r>
            <a:endParaRPr lang="en-US" sz="1200" dirty="0"/>
          </a:p>
          <a:p>
            <a:pPr marL="203200" indent="-2032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rgbClr val="1B2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Move, trim edges, Alt-drag to copy, S splits at the cursor, per-block volume.</a:t>
            </a:r>
            <a:endParaRPr lang="en-US" sz="1200" dirty="0"/>
          </a:p>
          <a:p>
            <a:pPr marL="203200" indent="-2032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rgbClr val="1B2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 2 is still a recipe — it runs on the mix.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6172200" y="1481328"/>
            <a:ext cx="5470855" cy="4919472"/>
          </a:xfrm>
          <a:prstGeom prst="roundRect">
            <a:avLst>
              <a:gd name="adj" fmla="val 1859"/>
            </a:avLst>
          </a:prstGeom>
          <a:solidFill>
            <a:srgbClr val="12151C"/>
          </a:solidFill>
          <a:ln w="12700">
            <a:solidFill>
              <a:srgbClr val="12151C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46520" y="1682496"/>
            <a:ext cx="49222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 ALGORITHM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446520" y="1984248"/>
            <a:ext cx="4922215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c_b[m] = 10^(g_b/20) · y_{s_b}[round(u_b·fs) + m]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out[n] = Σ_b c_b[n − round(t_b·fs)]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length = max_b (round(t_b·fs) + |c_b|)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addition commutes → block order is irrelevant</a:t>
            </a:r>
            <a:endParaRPr lang="en-US" sz="1250" dirty="0"/>
          </a:p>
        </p:txBody>
      </p:sp>
      <p:sp>
        <p:nvSpPr>
          <p:cNvPr id="19" name="Text 16"/>
          <p:cNvSpPr txBox="1"/>
          <p:nvPr/>
        </p:nvSpPr>
        <p:spPr>
          <a:xfrm>
            <a:off x="6446520" y="4453128"/>
            <a:ext cx="49222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BB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· ARRANGE.PY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6446520" y="4745736"/>
            <a:ext cx="4922215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D7DE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clip in clips: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7DE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whole = processed(clip.source)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7DE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segment = editor.trim(whole, fs, clip.clip_start,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7DE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clip.clip_end)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7DE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out = mixer.mix_at(out, segment, fs,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7DE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position=clip.start,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7DE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gain_db=clip.gain_db)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713232" cy="713232"/>
          </a:xfrm>
          <a:prstGeom prst="ellipse">
            <a:avLst/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948" y="589788"/>
            <a:ext cx="356616" cy="35661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463040" y="384048"/>
            <a:ext cx="7315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0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Signal Doctor</a:t>
            </a:r>
            <a:endParaRPr lang="en-US" sz="3200" dirty="0"/>
          </a:p>
        </p:txBody>
      </p:sp>
      <p:sp>
        <p:nvSpPr>
          <p:cNvPr id="5" name="Text 2"/>
          <p:cNvSpPr txBox="1"/>
          <p:nvPr/>
        </p:nvSpPr>
        <p:spPr>
          <a:xfrm>
            <a:off x="1463040" y="932688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Measures what is wrong with a recording and prescribes the recipe to fix it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10874959" y="502920"/>
            <a:ext cx="768096" cy="310896"/>
          </a:xfrm>
          <a:prstGeom prst="roundRect">
            <a:avLst>
              <a:gd name="adj" fmla="val 50000"/>
            </a:avLst>
          </a:prstGeom>
          <a:solidFill>
            <a:srgbClr val="1B7F76"/>
          </a:solidFill>
          <a:ln w="12700">
            <a:solidFill>
              <a:srgbClr val="1B7F7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0874959" y="502920"/>
            <a:ext cx="7680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548640" y="1508760"/>
            <a:ext cx="5410048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1E5E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7240" y="1618488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0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Clipping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3017520" y="1618488"/>
            <a:ext cx="27125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B7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De-clip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777240" y="1965960"/>
            <a:ext cx="49528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of ≥ 3 samples at ≥ 99.9 % of peak, peak ≥ −1 dBFS; read per channel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548640" y="2551176"/>
            <a:ext cx="5410048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1E5EA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77240" y="2660904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0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Hiss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3017520" y="2660904"/>
            <a:ext cx="27125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B7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Noise Remover + low-pass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777240" y="3008376"/>
            <a:ext cx="49528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Pauses' noise floor &gt; −60 dBFS and &gt; 50 % of its power above 2 kHz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48640" y="3593592"/>
            <a:ext cx="5410048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1E5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77240" y="3703320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0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Mains hum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3017520" y="3703320"/>
            <a:ext cx="27125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B7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Filter notches, Q = 30</a:t>
            </a:r>
            <a:endParaRPr lang="en-US" sz="1150" dirty="0"/>
          </a:p>
        </p:txBody>
      </p:sp>
      <p:sp>
        <p:nvSpPr>
          <p:cNvPr id="19" name="Text 16"/>
          <p:cNvSpPr txBox="1"/>
          <p:nvPr/>
        </p:nvSpPr>
        <p:spPr>
          <a:xfrm>
            <a:off x="777240" y="4050792"/>
            <a:ext cx="49528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50/60 Hz line and harmonics ≥ 12 dB above the max of their neighbourhood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48640" y="4636008"/>
            <a:ext cx="5410048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1E5EA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777240" y="4745736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0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DC offset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3017520" y="4745736"/>
            <a:ext cx="27125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B7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Level &amp; DC (DC only)</a:t>
            </a:r>
            <a:endParaRPr lang="en-US" sz="1150" dirty="0"/>
          </a:p>
        </p:txBody>
      </p:sp>
      <p:sp>
        <p:nvSpPr>
          <p:cNvPr id="23" name="Text 20"/>
          <p:cNvSpPr txBox="1"/>
          <p:nvPr/>
        </p:nvSpPr>
        <p:spPr>
          <a:xfrm>
            <a:off x="777240" y="5093208"/>
            <a:ext cx="49528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|mean(x)| &gt; 0.01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6233008" y="1508760"/>
            <a:ext cx="5410048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1E5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461608" y="1618488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0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 level</a:t>
            </a:r>
            <a:endParaRPr lang="en-US" sz="1500" dirty="0"/>
          </a:p>
        </p:txBody>
      </p:sp>
      <p:sp>
        <p:nvSpPr>
          <p:cNvPr id="26" name="Text 23"/>
          <p:cNvSpPr txBox="1"/>
          <p:nvPr/>
        </p:nvSpPr>
        <p:spPr>
          <a:xfrm>
            <a:off x="8701888" y="1618488"/>
            <a:ext cx="27125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B7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Level (+ Compressor if crest &gt; 20 dB)</a:t>
            </a:r>
            <a:endParaRPr lang="en-US" sz="1150" dirty="0"/>
          </a:p>
        </p:txBody>
      </p:sp>
      <p:sp>
        <p:nvSpPr>
          <p:cNvPr id="27" name="Text 24"/>
          <p:cNvSpPr txBox="1"/>
          <p:nvPr/>
        </p:nvSpPr>
        <p:spPr>
          <a:xfrm>
            <a:off x="6461608" y="1965960"/>
            <a:ext cx="49528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 of active hops &lt; −30 dBFS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6233008" y="2551176"/>
            <a:ext cx="5410048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1E5E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461608" y="2660904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0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Long silences</a:t>
            </a:r>
            <a:endParaRPr lang="en-US" sz="1500" dirty="0"/>
          </a:p>
        </p:txBody>
      </p:sp>
      <p:sp>
        <p:nvSpPr>
          <p:cNvPr id="30" name="Text 27"/>
          <p:cNvSpPr txBox="1"/>
          <p:nvPr/>
        </p:nvSpPr>
        <p:spPr>
          <a:xfrm>
            <a:off x="8701888" y="2660904"/>
            <a:ext cx="27125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B7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Silence Remover</a:t>
            </a:r>
            <a:endParaRPr lang="en-US" sz="1150" dirty="0"/>
          </a:p>
        </p:txBody>
      </p:sp>
      <p:sp>
        <p:nvSpPr>
          <p:cNvPr id="31" name="Text 28"/>
          <p:cNvSpPr txBox="1"/>
          <p:nvPr/>
        </p:nvSpPr>
        <p:spPr>
          <a:xfrm>
            <a:off x="6461608" y="3008376"/>
            <a:ext cx="49528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Pauses ≥ 0.3 s below min(−40, L90 − 30) dB &gt; 20 % of the file</a:t>
            </a:r>
            <a:endParaRPr lang="en-US" sz="1150" dirty="0"/>
          </a:p>
        </p:txBody>
      </p:sp>
      <p:sp>
        <p:nvSpPr>
          <p:cNvPr id="32" name="Shape 29"/>
          <p:cNvSpPr/>
          <p:nvPr/>
        </p:nvSpPr>
        <p:spPr>
          <a:xfrm>
            <a:off x="6233008" y="3593592"/>
            <a:ext cx="5410048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1E5EA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6461608" y="3703320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0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Stereo balance</a:t>
            </a:r>
            <a:endParaRPr lang="en-US" sz="1500" dirty="0"/>
          </a:p>
        </p:txBody>
      </p:sp>
      <p:sp>
        <p:nvSpPr>
          <p:cNvPr id="34" name="Text 31"/>
          <p:cNvSpPr txBox="1"/>
          <p:nvPr/>
        </p:nvSpPr>
        <p:spPr>
          <a:xfrm>
            <a:off x="8701888" y="3703320"/>
            <a:ext cx="27125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B7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Info only</a:t>
            </a:r>
            <a:endParaRPr lang="en-US" sz="1150" dirty="0"/>
          </a:p>
        </p:txBody>
      </p:sp>
      <p:sp>
        <p:nvSpPr>
          <p:cNvPr id="35" name="Text 32"/>
          <p:cNvSpPr txBox="1"/>
          <p:nvPr/>
        </p:nvSpPr>
        <p:spPr>
          <a:xfrm>
            <a:off x="6461608" y="4050792"/>
            <a:ext cx="49528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L/R RMS differ &gt; 3 dB, or correlation &lt; −0.3 (mono fold cancels)</a:t>
            </a:r>
            <a:endParaRPr lang="en-US" sz="1150" dirty="0"/>
          </a:p>
        </p:txBody>
      </p:sp>
      <p:sp>
        <p:nvSpPr>
          <p:cNvPr id="36" name="Shape 33"/>
          <p:cNvSpPr/>
          <p:nvPr/>
        </p:nvSpPr>
        <p:spPr>
          <a:xfrm>
            <a:off x="6233008" y="4636008"/>
            <a:ext cx="5410048" cy="1764792"/>
          </a:xfrm>
          <a:prstGeom prst="roundRect">
            <a:avLst>
              <a:gd name="adj" fmla="val 4145"/>
            </a:avLst>
          </a:prstGeom>
          <a:solidFill>
            <a:srgbClr val="12151C"/>
          </a:solidFill>
          <a:ln w="12700">
            <a:solidFill>
              <a:srgbClr val="12151C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6461608" y="4764024"/>
            <a:ext cx="4952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ORDER (ORDER CHANGES THE SOUND)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6461608" y="5047488"/>
            <a:ext cx="4952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DC → de-clip → hum → noise → low-pass → silence → compressor → level</a:t>
            </a:r>
            <a:endParaRPr lang="en-US" sz="1000" dirty="0"/>
          </a:p>
        </p:txBody>
      </p:sp>
      <p:sp>
        <p:nvSpPr>
          <p:cNvPr id="39" name="Text 36"/>
          <p:cNvSpPr txBox="1"/>
          <p:nvPr/>
        </p:nvSpPr>
        <p:spPr>
          <a:xfrm>
            <a:off x="6461608" y="5550408"/>
            <a:ext cx="4952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BB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USE IT</a:t>
            </a:r>
            <a:endParaRPr lang="en-US" sz="1100" dirty="0"/>
          </a:p>
        </p:txBody>
      </p:sp>
      <p:sp>
        <p:nvSpPr>
          <p:cNvPr id="40" name="Text 37"/>
          <p:cNvSpPr txBox="1"/>
          <p:nvPr/>
        </p:nvSpPr>
        <p:spPr>
          <a:xfrm>
            <a:off x="6461608" y="5824728"/>
            <a:ext cx="49528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D7D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Signal Doctor in column 3, read the Original / Processed checklist, press “Fix automatically” — the fixes arrive as ordinary cards you can tweak or bypass.</a:t>
            </a:r>
            <a:endParaRPr lang="en-US" sz="1150" dirty="0"/>
          </a:p>
        </p:txBody>
      </p:sp>
      <p:sp>
        <p:nvSpPr>
          <p:cNvPr id="41" name="Text 38"/>
          <p:cNvSpPr txBox="1"/>
          <p:nvPr/>
        </p:nvSpPr>
        <p:spPr>
          <a:xfrm>
            <a:off x="11002975" y="644652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713232" cy="713232"/>
          </a:xfrm>
          <a:prstGeom prst="ellipse">
            <a:avLst/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948" y="589788"/>
            <a:ext cx="356616" cy="35661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463040" y="38404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0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Spectrogram &amp; Listen Stats</a:t>
            </a:r>
            <a:endParaRPr lang="en-US" sz="3200" dirty="0"/>
          </a:p>
        </p:txBody>
      </p:sp>
      <p:sp>
        <p:nvSpPr>
          <p:cNvPr id="5" name="Text 2"/>
          <p:cNvSpPr txBox="1"/>
          <p:nvPr/>
        </p:nvSpPr>
        <p:spPr>
          <a:xfrm>
            <a:off x="1463040" y="932688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Seeing what changed: frequency over time, and the numbers before vs after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10874959" y="502920"/>
            <a:ext cx="768096" cy="310896"/>
          </a:xfrm>
          <a:prstGeom prst="roundRect">
            <a:avLst>
              <a:gd name="adj" fmla="val 50000"/>
            </a:avLst>
          </a:prstGeom>
          <a:solidFill>
            <a:srgbClr val="1B7F76"/>
          </a:solidFill>
          <a:ln w="12700">
            <a:solidFill>
              <a:srgbClr val="1B7F7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0874959" y="502920"/>
            <a:ext cx="7680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1002975" y="635508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1572768"/>
            <a:ext cx="5257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874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IS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1847088"/>
            <a:ext cx="5257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spectrogram under each waveform (time → right, pitch → up, brightness = loudness), and a Listen Stats table comparing input with output: peak, RMS, crest factor, DC, ZCR, spectral centroid.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2734056"/>
            <a:ext cx="5257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874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3008376"/>
            <a:ext cx="52578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B2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STFT, displayed instead of modified; |X| scaled so a full-scale sine reads 0 dBFS.</a:t>
            </a:r>
            <a:endParaRPr lang="en-US" sz="12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B2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160 rows spaced geometrically from 40 Hz to 16 kHz — the ear hears in ratios.</a:t>
            </a:r>
            <a:endParaRPr lang="en-US" sz="12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B2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FIXED −90…0 dBFS range (never normalised), so louder output really is brighter.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438912" y="4480560"/>
            <a:ext cx="5477256" cy="1865376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9525">
            <a:solidFill>
              <a:srgbClr val="E1E5E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40080" y="4590288"/>
            <a:ext cx="5257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B7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USE IT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640080" y="4864608"/>
            <a:ext cx="5074920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rgbClr val="1B2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on: load a file and bake any recipe.</a:t>
            </a:r>
            <a:endParaRPr lang="en-US" sz="1200" dirty="0"/>
          </a:p>
          <a:p>
            <a:pPr marL="203200" indent="-2032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rgbClr val="1B2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Input and Output spectrograms; Filter steps draw dashed cutoff lines on both.</a:t>
            </a:r>
            <a:endParaRPr lang="en-US" sz="1200" dirty="0"/>
          </a:p>
          <a:p>
            <a:pPr marL="203200" indent="-2032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rgbClr val="1B2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A/B switch (or press B) jumps between input and output at the same point.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6172200" y="1481328"/>
            <a:ext cx="5470855" cy="4919472"/>
          </a:xfrm>
          <a:prstGeom prst="roundRect">
            <a:avLst>
              <a:gd name="adj" fmla="val 1859"/>
            </a:avLst>
          </a:prstGeom>
          <a:solidFill>
            <a:srgbClr val="12151C"/>
          </a:solidFill>
          <a:ln w="12700">
            <a:solidFill>
              <a:srgbClr val="12151C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46520" y="1682496"/>
            <a:ext cx="49222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 ALGORITHM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446520" y="1984248"/>
            <a:ext cx="4922215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Hann sine on bin k0:  |X[k0]| = A·N/4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L[t,k] = 20·log10(|X[t,k]| / (N/4))   dBFS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f_r = f_min·(f_max/f_min)^(r/(R−1))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row = mean power of bins in its band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crest = peak_dB − RMS_dB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centroid = Σ f·|X(f)| / Σ |X(f)|</a:t>
            </a:r>
            <a:endParaRPr lang="en-US" sz="1250" dirty="0"/>
          </a:p>
        </p:txBody>
      </p:sp>
      <p:sp>
        <p:nvSpPr>
          <p:cNvPr id="19" name="Text 16"/>
          <p:cNvSpPr txBox="1"/>
          <p:nvPr/>
        </p:nvSpPr>
        <p:spPr>
          <a:xfrm>
            <a:off x="6446520" y="4453128"/>
            <a:ext cx="49222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BB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· SPECTROGRAM.PY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6446520" y="4745736"/>
            <a:ext cx="4922215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D7DE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hop = max(MIN_HOP, ceil(x.size / MAX_COLUMNS))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7DE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power = np.abs(stft(x, N_FFT, hop))**2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7DE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/ (N_FFT / 4.0)**2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7DE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centres = F_MIN * (f_max/F_MIN)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7DE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** (np.arange(ROWS) / (ROWS - 1))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215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Putting it together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69848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typical session, start to finish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036003" cy="2743200"/>
          </a:xfrm>
          <a:prstGeom prst="roundRect">
            <a:avLst>
              <a:gd name="adj" fmla="val 4491"/>
            </a:avLst>
          </a:prstGeom>
          <a:solidFill>
            <a:srgbClr val="1C212B"/>
          </a:solidFill>
          <a:ln w="9525">
            <a:solidFill>
              <a:srgbClr val="2A314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2286000"/>
            <a:ext cx="640080" cy="640080"/>
          </a:xfrm>
          <a:prstGeom prst="ellipse">
            <a:avLst/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7260" y="2446020"/>
            <a:ext cx="320040" cy="3200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77240" y="3108960"/>
            <a:ext cx="157880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Bring audio in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566160"/>
            <a:ext cx="1624523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D7D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 a file, browse, or record from the mic (localhost only — getUserMedia needs a secure context).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2813243" y="2011680"/>
            <a:ext cx="2036003" cy="2743200"/>
          </a:xfrm>
          <a:prstGeom prst="roundRect">
            <a:avLst>
              <a:gd name="adj" fmla="val 4491"/>
            </a:avLst>
          </a:prstGeom>
          <a:solidFill>
            <a:srgbClr val="1C212B"/>
          </a:solidFill>
          <a:ln w="9525">
            <a:solidFill>
              <a:srgbClr val="2A314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041843" y="2286000"/>
            <a:ext cx="640080" cy="640080"/>
          </a:xfrm>
          <a:prstGeom prst="ellipse">
            <a:avLst/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1863" y="2446020"/>
            <a:ext cx="320040" cy="32004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041843" y="3108960"/>
            <a:ext cx="157880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Diagnose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3041843" y="3566160"/>
            <a:ext cx="1624523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D7D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 Doctor lists what is wrong; Fix automatically appends the cards.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5077846" y="2011680"/>
            <a:ext cx="2036003" cy="2743200"/>
          </a:xfrm>
          <a:prstGeom prst="roundRect">
            <a:avLst>
              <a:gd name="adj" fmla="val 4491"/>
            </a:avLst>
          </a:prstGeom>
          <a:solidFill>
            <a:srgbClr val="1C212B"/>
          </a:solidFill>
          <a:ln w="9525">
            <a:solidFill>
              <a:srgbClr val="2A3140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5306446" y="2286000"/>
            <a:ext cx="640080" cy="640080"/>
          </a:xfrm>
          <a:prstGeom prst="ellipse">
            <a:avLst/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6466" y="2446020"/>
            <a:ext cx="320040" cy="32004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5306446" y="3108960"/>
            <a:ext cx="157880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Shape the recipe</a:t>
            </a:r>
            <a:endParaRPr lang="en-US" sz="1700" dirty="0"/>
          </a:p>
        </p:txBody>
      </p:sp>
      <p:sp>
        <p:nvSpPr>
          <p:cNvPr id="18" name="Text 13"/>
          <p:cNvSpPr txBox="1"/>
          <p:nvPr/>
        </p:nvSpPr>
        <p:spPr>
          <a:xfrm>
            <a:off x="5306446" y="3566160"/>
            <a:ext cx="1624523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D7D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Drag cards, try quick chips or a preset (Podcast cleanup, Radio voice, Nightcore…). Bypass to compare one step.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7342449" y="2011680"/>
            <a:ext cx="2036003" cy="2743200"/>
          </a:xfrm>
          <a:prstGeom prst="roundRect">
            <a:avLst>
              <a:gd name="adj" fmla="val 4491"/>
            </a:avLst>
          </a:prstGeom>
          <a:solidFill>
            <a:srgbClr val="1C212B"/>
          </a:solidFill>
          <a:ln w="9525">
            <a:solidFill>
              <a:srgbClr val="2A3140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7571049" y="2286000"/>
            <a:ext cx="640080" cy="640080"/>
          </a:xfrm>
          <a:prstGeom prst="ellipse">
            <a:avLst/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31069" y="2446020"/>
            <a:ext cx="320040" cy="32004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571049" y="3108960"/>
            <a:ext cx="157880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Compare</a:t>
            </a:r>
            <a:endParaRPr lang="en-US" sz="1700" dirty="0"/>
          </a:p>
        </p:txBody>
      </p:sp>
      <p:sp>
        <p:nvSpPr>
          <p:cNvPr id="23" name="Text 17"/>
          <p:cNvSpPr txBox="1"/>
          <p:nvPr/>
        </p:nvSpPr>
        <p:spPr>
          <a:xfrm>
            <a:off x="7571049" y="3566160"/>
            <a:ext cx="1624523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D7D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A/B switch or the B key; spectrograms and Listen Stats show what changed.</a:t>
            </a:r>
            <a:endParaRPr lang="en-US" sz="1250" dirty="0"/>
          </a:p>
        </p:txBody>
      </p:sp>
      <p:sp>
        <p:nvSpPr>
          <p:cNvPr id="24" name="Shape 18"/>
          <p:cNvSpPr/>
          <p:nvPr/>
        </p:nvSpPr>
        <p:spPr>
          <a:xfrm>
            <a:off x="9607052" y="2011680"/>
            <a:ext cx="2036003" cy="2743200"/>
          </a:xfrm>
          <a:prstGeom prst="roundRect">
            <a:avLst>
              <a:gd name="adj" fmla="val 4491"/>
            </a:avLst>
          </a:prstGeom>
          <a:solidFill>
            <a:srgbClr val="1C212B"/>
          </a:solidFill>
          <a:ln w="9525">
            <a:solidFill>
              <a:srgbClr val="2A3140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9835652" y="2286000"/>
            <a:ext cx="640080" cy="640080"/>
          </a:xfrm>
          <a:prstGeom prst="ellipse">
            <a:avLst/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95672" y="2446020"/>
            <a:ext cx="320040" cy="320040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9835652" y="3108960"/>
            <a:ext cx="157880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Export</a:t>
            </a:r>
            <a:endParaRPr lang="en-US" sz="1700" dirty="0"/>
          </a:p>
        </p:txBody>
      </p:sp>
      <p:sp>
        <p:nvSpPr>
          <p:cNvPr id="28" name="Text 21"/>
          <p:cNvSpPr txBox="1"/>
          <p:nvPr/>
        </p:nvSpPr>
        <p:spPr>
          <a:xfrm>
            <a:off x="9835652" y="3566160"/>
            <a:ext cx="1624523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D7D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WAV downloads the processed 16-bit file.</a:t>
            </a:r>
            <a:endParaRPr lang="en-US" sz="1250" dirty="0"/>
          </a:p>
        </p:txBody>
      </p:sp>
      <p:sp>
        <p:nvSpPr>
          <p:cNvPr id="29" name="Text 22"/>
          <p:cNvSpPr txBox="1"/>
          <p:nvPr/>
        </p:nvSpPr>
        <p:spPr>
          <a:xfrm>
            <a:off x="548640" y="53035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87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effect is plain numpy, with its derivation written out in the module docstring.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Audio Chef</dc:title>
  <dc:subject>PptxGenJS Presentation</dc:subject>
  <dc:creator>Audio Chef</dc:creator>
  <cp:lastModifiedBy>Audio Chef</cp:lastModifiedBy>
  <cp:revision>1</cp:revision>
  <dcterms:created xsi:type="dcterms:W3CDTF">2026-09-23T15:06:45Z</dcterms:created>
  <dcterms:modified xsi:type="dcterms:W3CDTF">2026-09-23T15:06:45Z</dcterms:modified>
</cp:coreProperties>
</file>